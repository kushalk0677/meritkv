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88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221A-BEA9-903F-DC56-FF26AA59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AD969-316A-0BCB-6B34-C9DFCD58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BB9CD-96D0-3F5F-76D6-C5B1E3A0D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27D21-0022-2BBB-E37B-2FBDC758C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2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80E4-F97F-F380-F921-7B7B0097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1B37C-853D-AABE-3EB4-B28F4923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BD888-4355-3167-E801-EB5114AE5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F6530-84DF-1DDD-43CC-732EC3478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91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B6148B-97FD-0FD5-C274-18201DB0B901}"/>
              </a:ext>
            </a:extLst>
          </p:cNvPr>
          <p:cNvGrpSpPr/>
          <p:nvPr/>
        </p:nvGrpSpPr>
        <p:grpSpPr>
          <a:xfrm>
            <a:off x="411309" y="302264"/>
            <a:ext cx="11532870" cy="6343650"/>
            <a:chOff x="820420" y="607314"/>
            <a:chExt cx="10515600" cy="5690616"/>
          </a:xfrm>
        </p:grpSpPr>
        <p:sp>
          <p:nvSpPr>
            <p:cNvPr id="4" name="Shape 2"/>
            <p:cNvSpPr/>
            <p:nvPr/>
          </p:nvSpPr>
          <p:spPr>
            <a:xfrm>
              <a:off x="820420" y="1611397"/>
              <a:ext cx="1600200" cy="2062942"/>
            </a:xfrm>
            <a:prstGeom prst="roundRect">
              <a:avLst>
                <a:gd name="adj" fmla="val 4571"/>
              </a:avLst>
            </a:prstGeom>
            <a:solidFill>
              <a:srgbClr val="EBF2FC"/>
            </a:solidFill>
            <a:ln w="15875">
              <a:solidFill>
                <a:srgbClr val="3B6F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896350" y="1775989"/>
              <a:ext cx="292608" cy="292608"/>
            </a:xfrm>
            <a:prstGeom prst="ellipse">
              <a:avLst/>
            </a:prstGeom>
            <a:solidFill>
              <a:srgbClr val="1F3F86"/>
            </a:solidFill>
            <a:ln w="12700">
              <a:solidFill>
                <a:srgbClr val="1F3F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896350" y="1775989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220561" y="1730269"/>
              <a:ext cx="1108619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F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b="1" dirty="0">
                  <a:solidFill>
                    <a:srgbClr val="1F3F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Ingestion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957580" y="2388637"/>
              <a:ext cx="1325880" cy="105156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957580" y="2480077"/>
              <a:ext cx="13258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03300" y="2708677"/>
              <a:ext cx="12344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tokens, prompt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mode, arrival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metadata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694940" y="872490"/>
              <a:ext cx="1874520" cy="3520440"/>
            </a:xfrm>
            <a:prstGeom prst="roundRect">
              <a:avLst>
                <a:gd name="adj" fmla="val 3902"/>
              </a:avLst>
            </a:prstGeom>
            <a:solidFill>
              <a:srgbClr val="EAF7EC"/>
            </a:solidFill>
            <a:ln w="15875">
              <a:solidFill>
                <a:srgbClr val="3C8A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23936" y="1037082"/>
              <a:ext cx="292608" cy="292608"/>
            </a:xfrm>
            <a:prstGeom prst="ellipse">
              <a:avLst/>
            </a:prstGeom>
            <a:solidFill>
              <a:srgbClr val="1F5C2E"/>
            </a:solidFill>
            <a:ln w="12700">
              <a:solidFill>
                <a:srgbClr val="1F5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2823936" y="1037082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189696" y="991362"/>
              <a:ext cx="1280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5C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Candidate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b="1" dirty="0">
                  <a:solidFill>
                    <a:srgbClr val="1F5C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Discovery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832100" y="1548130"/>
              <a:ext cx="1600200" cy="84124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877820" y="1621282"/>
              <a:ext cx="15087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Exact-Prefix Index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877820" y="1877314"/>
              <a:ext cx="1508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longest exact prefix matches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832100" y="2499106"/>
              <a:ext cx="1600200" cy="84124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832100" y="2572258"/>
              <a:ext cx="158191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Semantic KV Index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877820" y="2828290"/>
              <a:ext cx="1508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top-k similar prefixes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832100" y="3450082"/>
              <a:ext cx="1600200" cy="84124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832100" y="3523234"/>
              <a:ext cx="1592036" cy="19151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Runtime Estimates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877820" y="3779266"/>
              <a:ext cx="1508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relevance, cost, risk (online statistics)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843780" y="872490"/>
              <a:ext cx="4434840" cy="3520440"/>
            </a:xfrm>
            <a:prstGeom prst="roundRect">
              <a:avLst>
                <a:gd name="adj" fmla="val 2078"/>
              </a:avLst>
            </a:prstGeom>
            <a:solidFill>
              <a:srgbClr val="F3EFFB"/>
            </a:solidFill>
            <a:ln w="19050">
              <a:solidFill>
                <a:srgbClr val="8B6FC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5643880" y="1018794"/>
              <a:ext cx="292608" cy="292608"/>
            </a:xfrm>
            <a:prstGeom prst="ellipse">
              <a:avLst/>
            </a:prstGeom>
            <a:solidFill>
              <a:srgbClr val="5B3E9E"/>
            </a:solidFill>
            <a:ln w="12700">
              <a:solidFill>
                <a:srgbClr val="5B3E9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5643880" y="101879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43780" y="982218"/>
              <a:ext cx="4434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5B3E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Utility Controller</a:t>
              </a: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843780" y="1393697"/>
              <a:ext cx="4434840" cy="1920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Evaluate candidates and decide reuse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980940" y="1695450"/>
              <a:ext cx="2011680" cy="1874520"/>
            </a:xfrm>
            <a:prstGeom prst="roundRect">
              <a:avLst>
                <a:gd name="adj" fmla="val 3902"/>
              </a:avLst>
            </a:prstGeom>
            <a:solidFill>
              <a:srgbClr val="FAF8FE"/>
            </a:solidFill>
            <a:ln w="12700">
              <a:solidFill>
                <a:srgbClr val="D8CC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980940" y="1768602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5B3E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Exact-Prefix Branch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980940" y="1988058"/>
              <a:ext cx="2011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(exact match found)</a:t>
              </a:r>
              <a:endParaRPr lang="en-US" sz="10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090668" y="2262378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5118100" y="2280666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Score candidate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90668" y="2683002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5118100" y="2701290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Check usefulness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(benefit vs. cost)</a:t>
              </a:r>
              <a:endParaRPr lang="en-US" sz="12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090668" y="3103626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5118100" y="3121914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Reuse if useful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7129780" y="1695450"/>
              <a:ext cx="2011680" cy="1874520"/>
            </a:xfrm>
            <a:prstGeom prst="roundRect">
              <a:avLst>
                <a:gd name="adj" fmla="val 3902"/>
              </a:avLst>
            </a:prstGeom>
            <a:solidFill>
              <a:srgbClr val="FAF8FE"/>
            </a:solidFill>
            <a:ln w="12700">
              <a:solidFill>
                <a:srgbClr val="D8CC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7129780" y="1768602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5B3E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Semantic Branch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129780" y="1988058"/>
              <a:ext cx="20116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(no exact match)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239508" y="2262378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7266940" y="2280666"/>
              <a:ext cx="1737360" cy="291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Score candidate</a:t>
              </a:r>
              <a:endParaRPr lang="en-US" sz="12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7239508" y="2683002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7266940" y="2701290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Guard for reliability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(similarity &amp; risk)</a:t>
              </a:r>
              <a:endParaRPr lang="en-US" sz="12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239508" y="3103626"/>
              <a:ext cx="1792224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7266940" y="3121914"/>
              <a:ext cx="17373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Reuse if safe and useful</a:t>
              </a:r>
              <a:endParaRPr lang="en-US" sz="12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980940" y="3661410"/>
              <a:ext cx="4160520" cy="502920"/>
            </a:xfrm>
            <a:prstGeom prst="roundRect">
              <a:avLst>
                <a:gd name="adj" fmla="val 14545"/>
              </a:avLst>
            </a:prstGeom>
            <a:solidFill>
              <a:srgbClr val="EAE1F7"/>
            </a:solidFill>
            <a:ln w="12700">
              <a:solidFill>
                <a:srgbClr val="C9B3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4980940" y="3697986"/>
              <a:ext cx="41605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3E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Risk-Averse Extension</a:t>
              </a:r>
              <a:endParaRPr lang="en-US" sz="12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980940" y="3908298"/>
              <a:ext cx="41605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Penalize high-risk reuse (misleading matches)</a:t>
              </a:r>
              <a:endParaRPr lang="en-US" sz="105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9598660" y="1223473"/>
              <a:ext cx="1737360" cy="2906776"/>
            </a:xfrm>
            <a:prstGeom prst="roundRect">
              <a:avLst>
                <a:gd name="adj" fmla="val 4211"/>
              </a:avLst>
            </a:prstGeom>
            <a:solidFill>
              <a:srgbClr val="EBF2FC"/>
            </a:solidFill>
            <a:ln w="15875">
              <a:solidFill>
                <a:srgbClr val="3B6F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9735820" y="1388065"/>
              <a:ext cx="292608" cy="292608"/>
            </a:xfrm>
            <a:prstGeom prst="ellipse">
              <a:avLst/>
            </a:prstGeom>
            <a:solidFill>
              <a:srgbClr val="1F3F86"/>
            </a:solidFill>
            <a:ln w="12700">
              <a:solidFill>
                <a:srgbClr val="1F3F8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9735820" y="138806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10101580" y="1342345"/>
              <a:ext cx="1143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F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Reuse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b="1" dirty="0">
                  <a:solidFill>
                    <a:srgbClr val="1F3F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Decision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9735820" y="2046433"/>
              <a:ext cx="1463040" cy="868680"/>
            </a:xfrm>
            <a:prstGeom prst="roundRect">
              <a:avLst>
                <a:gd name="adj" fmla="val 8421"/>
              </a:avLst>
            </a:prstGeom>
            <a:solidFill>
              <a:srgbClr val="EAF7EC"/>
            </a:solidFill>
            <a:ln w="12700">
              <a:solidFill>
                <a:srgbClr val="3C8A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9735820" y="2137873"/>
              <a:ext cx="14630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5C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Reuse</a:t>
              </a:r>
              <a:endParaRPr lang="en-US" sz="14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9781540" y="2393905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Return cached KV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(exact or semantic)</a:t>
              </a:r>
              <a:endParaRPr lang="en-US" sz="11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9735820" y="3052273"/>
              <a:ext cx="1463040" cy="868680"/>
            </a:xfrm>
            <a:prstGeom prst="roundRect">
              <a:avLst>
                <a:gd name="adj" fmla="val 8421"/>
              </a:avLst>
            </a:prstGeom>
            <a:solidFill>
              <a:srgbClr val="FCEDED"/>
            </a:solidFill>
            <a:ln w="12700">
              <a:solidFill>
                <a:srgbClr val="C96A6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9735820" y="3143713"/>
              <a:ext cx="14630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9E3A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Bypass</a:t>
              </a:r>
              <a:endParaRPr lang="en-US" sz="14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9781540" y="3399745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reuse,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44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compute normally</a:t>
              </a:r>
              <a:endParaRPr lang="en-US" sz="11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2420620" y="2632710"/>
              <a:ext cx="27432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4569460" y="2632710"/>
              <a:ext cx="27432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9278620" y="2632710"/>
              <a:ext cx="32004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10206736" y="625601"/>
              <a:ext cx="0" cy="597871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7282942" y="625602"/>
              <a:ext cx="2923794" cy="0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7282942" y="625602"/>
              <a:ext cx="0" cy="246888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64"/>
            <p:cNvSpPr/>
            <p:nvPr/>
          </p:nvSpPr>
          <p:spPr>
            <a:xfrm>
              <a:off x="6734302" y="607314"/>
              <a:ext cx="402107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A4FA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Observed hit / waste</a:t>
              </a:r>
              <a:endParaRPr lang="en-US" sz="12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891540" y="5017770"/>
              <a:ext cx="5074920" cy="1280160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1056132" y="5200650"/>
              <a:ext cx="310896" cy="310896"/>
            </a:xfrm>
            <a:prstGeom prst="ellipse">
              <a:avLst/>
            </a:prstGeom>
            <a:solidFill>
              <a:srgbClr val="6E6E6E"/>
            </a:solidFill>
            <a:ln w="12700">
              <a:solidFill>
                <a:srgbClr val="6E6E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1056132" y="5200650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1485900" y="5136642"/>
              <a:ext cx="4343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Calibration &amp; Thresholding</a:t>
              </a:r>
              <a:endParaRPr lang="en-US" sz="16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1485900" y="5383530"/>
              <a:ext cx="4297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 decision thresholds to balance benefit, cost, and risk using empirical data.</a:t>
              </a:r>
              <a:endParaRPr lang="en-US" sz="105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1028700" y="5795010"/>
              <a:ext cx="155448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71"/>
            <p:cNvSpPr/>
            <p:nvPr/>
          </p:nvSpPr>
          <p:spPr>
            <a:xfrm>
              <a:off x="1074420" y="582244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thresholds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(breakeven points)</a:t>
              </a:r>
              <a:endParaRPr lang="en-US" sz="11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2651760" y="5795010"/>
              <a:ext cx="155448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/>
            <p:cNvSpPr/>
            <p:nvPr/>
          </p:nvSpPr>
          <p:spPr>
            <a:xfrm>
              <a:off x="2697480" y="582244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Adapt to workload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characteristics</a:t>
              </a:r>
              <a:endParaRPr lang="en-US" sz="11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4274820" y="5795010"/>
              <a:ext cx="155448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75"/>
            <p:cNvSpPr/>
            <p:nvPr/>
          </p:nvSpPr>
          <p:spPr>
            <a:xfrm>
              <a:off x="4320540" y="582244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 precision–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recall trade-off</a:t>
              </a:r>
              <a:endParaRPr lang="en-US" sz="11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6240781" y="5017770"/>
              <a:ext cx="4831079" cy="1280160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6405372" y="5200650"/>
              <a:ext cx="310896" cy="310896"/>
            </a:xfrm>
            <a:prstGeom prst="ellipse">
              <a:avLst/>
            </a:prstGeom>
            <a:solidFill>
              <a:srgbClr val="6E6E6E"/>
            </a:solidFill>
            <a:ln w="12700">
              <a:solidFill>
                <a:srgbClr val="6E6E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78"/>
            <p:cNvSpPr/>
            <p:nvPr/>
          </p:nvSpPr>
          <p:spPr>
            <a:xfrm>
              <a:off x="6405372" y="5200650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16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6835141" y="5136641"/>
              <a:ext cx="3632200" cy="2971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Offline Policy Learner</a:t>
              </a:r>
              <a:endParaRPr lang="en-US" sz="16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6835141" y="5383530"/>
              <a:ext cx="36322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optimal decision policy and parameters offline.</a:t>
              </a:r>
              <a:endParaRPr lang="en-US" sz="10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6377940" y="5694426"/>
              <a:ext cx="1448003" cy="512064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82"/>
            <p:cNvSpPr/>
            <p:nvPr/>
          </p:nvSpPr>
          <p:spPr>
            <a:xfrm>
              <a:off x="6423660" y="5776262"/>
              <a:ext cx="138047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Search for optimal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thresholds</a:t>
              </a:r>
              <a:endParaRPr lang="en-US" sz="11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7878978" y="5694426"/>
              <a:ext cx="1448003" cy="512064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84"/>
            <p:cNvSpPr/>
            <p:nvPr/>
          </p:nvSpPr>
          <p:spPr>
            <a:xfrm>
              <a:off x="7924698" y="5776262"/>
              <a:ext cx="138047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model weights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and risk penalties</a:t>
              </a:r>
              <a:endParaRPr lang="en-US" sz="11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9390177" y="5694426"/>
              <a:ext cx="1448003" cy="512064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/>
            <p:cNvSpPr/>
            <p:nvPr/>
          </p:nvSpPr>
          <p:spPr>
            <a:xfrm>
              <a:off x="9435897" y="5776262"/>
              <a:ext cx="138047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 policy for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online serving</a:t>
              </a:r>
              <a:endParaRPr lang="en-US" sz="11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5966460" y="5657850"/>
              <a:ext cx="27432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8"/>
            <p:cNvSpPr/>
            <p:nvPr/>
          </p:nvSpPr>
          <p:spPr>
            <a:xfrm>
              <a:off x="2443226" y="4816602"/>
              <a:ext cx="7203186" cy="0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89"/>
            <p:cNvSpPr/>
            <p:nvPr/>
          </p:nvSpPr>
          <p:spPr>
            <a:xfrm>
              <a:off x="2443226" y="4816602"/>
              <a:ext cx="0" cy="201168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0"/>
            <p:cNvSpPr/>
            <p:nvPr/>
          </p:nvSpPr>
          <p:spPr>
            <a:xfrm>
              <a:off x="9646412" y="4816602"/>
              <a:ext cx="0" cy="201168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91"/>
            <p:cNvSpPr/>
            <p:nvPr/>
          </p:nvSpPr>
          <p:spPr>
            <a:xfrm>
              <a:off x="2443226" y="4542282"/>
              <a:ext cx="720318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A4FA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Feedback (outcome, context)</a:t>
              </a:r>
              <a:endParaRPr lang="en-US" sz="1200" dirty="0"/>
            </a:p>
          </p:txBody>
        </p:sp>
        <p:sp>
          <p:nvSpPr>
            <p:cNvPr id="106" name="Shape 88">
              <a:extLst>
                <a:ext uri="{FF2B5EF4-FFF2-40B4-BE49-F238E27FC236}">
                  <a16:creationId xmlns:a16="http://schemas.microsoft.com/office/drawing/2014/main" id="{F8DD5C3E-A137-F0C7-C1B7-361D988E8283}"/>
                </a:ext>
              </a:extLst>
            </p:cNvPr>
            <p:cNvSpPr/>
            <p:nvPr/>
          </p:nvSpPr>
          <p:spPr>
            <a:xfrm>
              <a:off x="2110741" y="4542282"/>
              <a:ext cx="8356600" cy="0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89">
              <a:extLst>
                <a:ext uri="{FF2B5EF4-FFF2-40B4-BE49-F238E27FC236}">
                  <a16:creationId xmlns:a16="http://schemas.microsoft.com/office/drawing/2014/main" id="{B2DBB040-DDFD-332C-A4B3-25B0EC505335}"/>
                </a:ext>
              </a:extLst>
            </p:cNvPr>
            <p:cNvSpPr/>
            <p:nvPr/>
          </p:nvSpPr>
          <p:spPr>
            <a:xfrm>
              <a:off x="2110741" y="4542282"/>
              <a:ext cx="0" cy="475488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F824843C-6FDC-49B0-30EE-725E355C7738}"/>
                </a:ext>
              </a:extLst>
            </p:cNvPr>
            <p:cNvSpPr/>
            <p:nvPr/>
          </p:nvSpPr>
          <p:spPr>
            <a:xfrm>
              <a:off x="10457181" y="4130249"/>
              <a:ext cx="0" cy="412033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F2BE5-41EB-D098-D071-ECA2444F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1DE5B699-F78E-54C7-B720-B356507D1662}"/>
              </a:ext>
            </a:extLst>
          </p:cNvPr>
          <p:cNvGrpSpPr/>
          <p:nvPr/>
        </p:nvGrpSpPr>
        <p:grpSpPr>
          <a:xfrm>
            <a:off x="941799" y="2051809"/>
            <a:ext cx="10308401" cy="2691302"/>
            <a:chOff x="411309" y="302264"/>
            <a:chExt cx="10308401" cy="269130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C183229-9DD4-66F2-951F-96EE81F8F963}"/>
                </a:ext>
              </a:extLst>
            </p:cNvPr>
            <p:cNvGrpSpPr/>
            <p:nvPr/>
          </p:nvGrpSpPr>
          <p:grpSpPr>
            <a:xfrm>
              <a:off x="411309" y="302264"/>
              <a:ext cx="7355010" cy="2691302"/>
              <a:chOff x="411309" y="302264"/>
              <a:chExt cx="11532870" cy="4220040"/>
            </a:xfrm>
          </p:grpSpPr>
          <p:sp>
            <p:nvSpPr>
              <p:cNvPr id="4" name="Shape 2">
                <a:extLst>
                  <a:ext uri="{FF2B5EF4-FFF2-40B4-BE49-F238E27FC236}">
                    <a16:creationId xmlns:a16="http://schemas.microsoft.com/office/drawing/2014/main" id="{EB1BA0AF-FD6C-9B0C-D4C5-87D6EDC60ECE}"/>
                  </a:ext>
                </a:extLst>
              </p:cNvPr>
              <p:cNvSpPr/>
              <p:nvPr/>
            </p:nvSpPr>
            <p:spPr>
              <a:xfrm>
                <a:off x="411309" y="1421572"/>
                <a:ext cx="1755002" cy="2299678"/>
              </a:xfrm>
              <a:prstGeom prst="roundRect">
                <a:avLst>
                  <a:gd name="adj" fmla="val 4571"/>
                </a:avLst>
              </a:prstGeom>
              <a:solidFill>
                <a:srgbClr val="EBF2FC"/>
              </a:solidFill>
              <a:ln w="15875">
                <a:solidFill>
                  <a:srgbClr val="3B6FC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6254327A-1518-B102-6112-71B8A443F457}"/>
                  </a:ext>
                </a:extLst>
              </p:cNvPr>
              <p:cNvSpPr/>
              <p:nvPr/>
            </p:nvSpPr>
            <p:spPr>
              <a:xfrm>
                <a:off x="494584" y="1605052"/>
                <a:ext cx="320915" cy="326187"/>
              </a:xfrm>
              <a:prstGeom prst="ellipse">
                <a:avLst/>
              </a:prstGeom>
              <a:solidFill>
                <a:srgbClr val="1F3F86"/>
              </a:solidFill>
              <a:ln w="12700">
                <a:solidFill>
                  <a:srgbClr val="1F3F8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2920287-5D91-8734-7D39-42CACF86FE75}"/>
                  </a:ext>
                </a:extLst>
              </p:cNvPr>
              <p:cNvSpPr/>
              <p:nvPr/>
            </p:nvSpPr>
            <p:spPr>
              <a:xfrm>
                <a:off x="494584" y="1605052"/>
                <a:ext cx="320915" cy="32618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endParaRPr lang="en-US" sz="10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09379BB2-4D1F-EF01-C770-5DAE399CF522}"/>
                  </a:ext>
                </a:extLst>
              </p:cNvPr>
              <p:cNvSpPr/>
              <p:nvPr/>
            </p:nvSpPr>
            <p:spPr>
              <a:xfrm>
                <a:off x="850159" y="1554085"/>
                <a:ext cx="1215866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3F8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Request</a:t>
                </a:r>
                <a:endParaRPr lang="en-US" sz="1000" dirty="0"/>
              </a:p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3F8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Ingestion</a:t>
                </a:r>
                <a:endParaRPr lang="en-US" sz="1000" dirty="0"/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A15C03AF-853D-0D77-4B9F-D9F8426F9A47}"/>
                  </a:ext>
                </a:extLst>
              </p:cNvPr>
              <p:cNvSpPr/>
              <p:nvPr/>
            </p:nvSpPr>
            <p:spPr>
              <a:xfrm>
                <a:off x="561738" y="2288005"/>
                <a:ext cx="1454144" cy="1172233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F70D1570-43C5-9EE7-7D07-7814C2E28046}"/>
                  </a:ext>
                </a:extLst>
              </p:cNvPr>
              <p:cNvSpPr/>
              <p:nvPr/>
            </p:nvSpPr>
            <p:spPr>
              <a:xfrm>
                <a:off x="561738" y="2389938"/>
                <a:ext cx="1454144" cy="30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Request</a:t>
                </a:r>
                <a:endParaRPr lang="en-US" sz="900" dirty="0"/>
              </a:p>
            </p:txBody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D6ACB23F-6436-BA6F-6096-A44EB5442A6D}"/>
                  </a:ext>
                </a:extLst>
              </p:cNvPr>
              <p:cNvSpPr/>
              <p:nvPr/>
            </p:nvSpPr>
            <p:spPr>
              <a:xfrm>
                <a:off x="611881" y="2644772"/>
                <a:ext cx="1353859" cy="7135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tokens, prompt</a:t>
                </a:r>
                <a:endParaRPr lang="en-US" sz="700" dirty="0"/>
              </a:p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mode, arrival</a:t>
                </a:r>
                <a:endParaRPr lang="en-US" sz="700" dirty="0"/>
              </a:p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metadata</a:t>
                </a:r>
                <a:endParaRPr lang="en-US" sz="700" dirty="0"/>
              </a:p>
            </p:txBody>
          </p:sp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091FAD5B-17D1-E3D3-B1FF-5574F9E73BFB}"/>
                  </a:ext>
                </a:extLst>
              </p:cNvPr>
              <p:cNvSpPr/>
              <p:nvPr/>
            </p:nvSpPr>
            <p:spPr>
              <a:xfrm>
                <a:off x="2467168" y="597871"/>
                <a:ext cx="2055859" cy="3924433"/>
              </a:xfrm>
              <a:prstGeom prst="roundRect">
                <a:avLst>
                  <a:gd name="adj" fmla="val 3902"/>
                </a:avLst>
              </a:prstGeom>
              <a:solidFill>
                <a:srgbClr val="EAF7EC"/>
              </a:solidFill>
              <a:ln w="15875">
                <a:solidFill>
                  <a:srgbClr val="3C8A4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Shape 10">
                <a:extLst>
                  <a:ext uri="{FF2B5EF4-FFF2-40B4-BE49-F238E27FC236}">
                    <a16:creationId xmlns:a16="http://schemas.microsoft.com/office/drawing/2014/main" id="{88FF0388-8ABE-7F42-AAD4-FA118DA82FFD}"/>
                  </a:ext>
                </a:extLst>
              </p:cNvPr>
              <p:cNvSpPr/>
              <p:nvPr/>
            </p:nvSpPr>
            <p:spPr>
              <a:xfrm>
                <a:off x="2608643" y="781351"/>
                <a:ext cx="320915" cy="326187"/>
              </a:xfrm>
              <a:prstGeom prst="ellipse">
                <a:avLst/>
              </a:prstGeom>
              <a:solidFill>
                <a:srgbClr val="1F5C2E"/>
              </a:solidFill>
              <a:ln w="12700">
                <a:solidFill>
                  <a:srgbClr val="1F5C2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2F57BBC7-0B79-D22E-8099-769AF5ED901C}"/>
                  </a:ext>
                </a:extLst>
              </p:cNvPr>
              <p:cNvSpPr/>
              <p:nvPr/>
            </p:nvSpPr>
            <p:spPr>
              <a:xfrm>
                <a:off x="2608643" y="781351"/>
                <a:ext cx="320915" cy="32618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</a:t>
                </a:r>
                <a:endParaRPr lang="en-US" sz="10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3C3EF47-4865-2504-2BCE-FC21CFD737A5}"/>
                  </a:ext>
                </a:extLst>
              </p:cNvPr>
              <p:cNvSpPr/>
              <p:nvPr/>
            </p:nvSpPr>
            <p:spPr>
              <a:xfrm>
                <a:off x="3009787" y="730384"/>
                <a:ext cx="1404002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5C2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Candidate</a:t>
                </a:r>
                <a:endParaRPr lang="en-US" sz="1000" dirty="0"/>
              </a:p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5C2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Discovery</a:t>
                </a:r>
                <a:endParaRPr lang="en-US" sz="1000" dirty="0"/>
              </a:p>
            </p:txBody>
          </p:sp>
          <p:sp>
            <p:nvSpPr>
              <p:cNvPr id="15" name="Shape 13">
                <a:extLst>
                  <a:ext uri="{FF2B5EF4-FFF2-40B4-BE49-F238E27FC236}">
                    <a16:creationId xmlns:a16="http://schemas.microsoft.com/office/drawing/2014/main" id="{8FA35495-07B4-794D-D0BE-66DD0D21CE30}"/>
                  </a:ext>
                </a:extLst>
              </p:cNvPr>
              <p:cNvSpPr/>
              <p:nvPr/>
            </p:nvSpPr>
            <p:spPr>
              <a:xfrm>
                <a:off x="2617597" y="1351045"/>
                <a:ext cx="1755002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9956B402-B12F-9E3C-DAE1-4C93D7B589A0}"/>
                  </a:ext>
                </a:extLst>
              </p:cNvPr>
              <p:cNvSpPr/>
              <p:nvPr/>
            </p:nvSpPr>
            <p:spPr>
              <a:xfrm>
                <a:off x="2667740" y="1432591"/>
                <a:ext cx="1654716" cy="28541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Exact-Prefix Index</a:t>
                </a:r>
                <a:endParaRPr lang="en-US" sz="800" dirty="0"/>
              </a:p>
            </p:txBody>
          </p: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10958F4E-B26D-6BAA-3611-E14921B9733B}"/>
                  </a:ext>
                </a:extLst>
              </p:cNvPr>
              <p:cNvSpPr/>
              <p:nvPr/>
            </p:nvSpPr>
            <p:spPr>
              <a:xfrm>
                <a:off x="2667740" y="1718004"/>
                <a:ext cx="1654716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longest exact prefix matches</a:t>
                </a:r>
                <a:endParaRPr lang="en-US" sz="700" dirty="0"/>
              </a:p>
            </p:txBody>
          </p:sp>
          <p:sp>
            <p:nvSpPr>
              <p:cNvPr id="18" name="Shape 16">
                <a:extLst>
                  <a:ext uri="{FF2B5EF4-FFF2-40B4-BE49-F238E27FC236}">
                    <a16:creationId xmlns:a16="http://schemas.microsoft.com/office/drawing/2014/main" id="{61D29649-5C1C-6651-EBD9-F65B68A95037}"/>
                  </a:ext>
                </a:extLst>
              </p:cNvPr>
              <p:cNvSpPr/>
              <p:nvPr/>
            </p:nvSpPr>
            <p:spPr>
              <a:xfrm>
                <a:off x="2617597" y="2411151"/>
                <a:ext cx="1755002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11A2C14E-9CFB-1BDE-3168-75E85BE8552B}"/>
                  </a:ext>
                </a:extLst>
              </p:cNvPr>
              <p:cNvSpPr/>
              <p:nvPr/>
            </p:nvSpPr>
            <p:spPr>
              <a:xfrm>
                <a:off x="2617597" y="2492698"/>
                <a:ext cx="1734945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Semantic KV Index</a:t>
                </a:r>
                <a:endParaRPr lang="en-US" sz="800" dirty="0"/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BFD9BBA2-3F71-862D-A7BE-6F4808E1860F}"/>
                  </a:ext>
                </a:extLst>
              </p:cNvPr>
              <p:cNvSpPr/>
              <p:nvPr/>
            </p:nvSpPr>
            <p:spPr>
              <a:xfrm>
                <a:off x="2667740" y="2778111"/>
                <a:ext cx="1654716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top-k similar prefixes</a:t>
                </a:r>
                <a:endParaRPr lang="en-US" sz="700" dirty="0"/>
              </a:p>
            </p:txBody>
          </p:sp>
          <p:sp>
            <p:nvSpPr>
              <p:cNvPr id="21" name="Shape 19">
                <a:extLst>
                  <a:ext uri="{FF2B5EF4-FFF2-40B4-BE49-F238E27FC236}">
                    <a16:creationId xmlns:a16="http://schemas.microsoft.com/office/drawing/2014/main" id="{B70A7597-071A-05EB-2090-CE6DF6E8FFA5}"/>
                  </a:ext>
                </a:extLst>
              </p:cNvPr>
              <p:cNvSpPr/>
              <p:nvPr/>
            </p:nvSpPr>
            <p:spPr>
              <a:xfrm>
                <a:off x="2617597" y="3471258"/>
                <a:ext cx="1755002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4A8ED8CA-37E7-C5C1-6283-3955C0BA791C}"/>
                  </a:ext>
                </a:extLst>
              </p:cNvPr>
              <p:cNvSpPr/>
              <p:nvPr/>
            </p:nvSpPr>
            <p:spPr>
              <a:xfrm>
                <a:off x="2617597" y="3552804"/>
                <a:ext cx="1746048" cy="21349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Runtime Estimates</a:t>
                </a:r>
                <a:endParaRPr lang="en-US" sz="8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808EA86A-3504-982B-1314-B79086474831}"/>
                  </a:ext>
                </a:extLst>
              </p:cNvPr>
              <p:cNvSpPr/>
              <p:nvPr/>
            </p:nvSpPr>
            <p:spPr>
              <a:xfrm>
                <a:off x="2667740" y="3838217"/>
                <a:ext cx="1654716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relevance, cost, risk (online statistics)</a:t>
                </a:r>
                <a:endParaRPr lang="en-US" sz="700" dirty="0"/>
              </a:p>
            </p:txBody>
          </p:sp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951D9C63-C3C5-958B-F1C1-D292ECEC2966}"/>
                  </a:ext>
                </a:extLst>
              </p:cNvPr>
              <p:cNvSpPr/>
              <p:nvPr/>
            </p:nvSpPr>
            <p:spPr>
              <a:xfrm>
                <a:off x="4823885" y="597871"/>
                <a:ext cx="4863863" cy="3924433"/>
              </a:xfrm>
              <a:prstGeom prst="roundRect">
                <a:avLst>
                  <a:gd name="adj" fmla="val 2078"/>
                </a:avLst>
              </a:prstGeom>
              <a:solidFill>
                <a:srgbClr val="F3EFFB"/>
              </a:solidFill>
              <a:ln w="19050">
                <a:solidFill>
                  <a:srgbClr val="8B6FC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Shape 23">
                <a:extLst>
                  <a:ext uri="{FF2B5EF4-FFF2-40B4-BE49-F238E27FC236}">
                    <a16:creationId xmlns:a16="http://schemas.microsoft.com/office/drawing/2014/main" id="{36B8AFF2-B85C-D256-73D7-CAA22F1058E7}"/>
                  </a:ext>
                </a:extLst>
              </p:cNvPr>
              <p:cNvSpPr/>
              <p:nvPr/>
            </p:nvSpPr>
            <p:spPr>
              <a:xfrm>
                <a:off x="5701386" y="760964"/>
                <a:ext cx="320915" cy="326187"/>
              </a:xfrm>
              <a:prstGeom prst="ellipse">
                <a:avLst/>
              </a:prstGeom>
              <a:solidFill>
                <a:srgbClr val="5B3E9E"/>
              </a:solidFill>
              <a:ln w="12700">
                <a:solidFill>
                  <a:srgbClr val="5B3E9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88F9D361-58A8-271F-6F25-B67AA6DD331B}"/>
                  </a:ext>
                </a:extLst>
              </p:cNvPr>
              <p:cNvSpPr/>
              <p:nvPr/>
            </p:nvSpPr>
            <p:spPr>
              <a:xfrm>
                <a:off x="5701386" y="760964"/>
                <a:ext cx="320915" cy="32618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</a:t>
                </a:r>
                <a:endParaRPr lang="en-US" sz="10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CCFF0A76-641A-BBD1-364C-147A34879CDB}"/>
                  </a:ext>
                </a:extLst>
              </p:cNvPr>
              <p:cNvSpPr/>
              <p:nvPr/>
            </p:nvSpPr>
            <p:spPr>
              <a:xfrm>
                <a:off x="4823885" y="720191"/>
                <a:ext cx="4863863" cy="3567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5B3E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Utility Controller</a:t>
                </a:r>
                <a:endParaRPr lang="en-US" sz="1050" dirty="0"/>
              </a:p>
            </p:txBody>
          </p:sp>
          <p:sp>
            <p:nvSpPr>
              <p:cNvPr id="28" name="Text 26">
                <a:extLst>
                  <a:ext uri="{FF2B5EF4-FFF2-40B4-BE49-F238E27FC236}">
                    <a16:creationId xmlns:a16="http://schemas.microsoft.com/office/drawing/2014/main" id="{F3904C9B-E6F9-AC81-EEBB-97055B4A04DD}"/>
                  </a:ext>
                </a:extLst>
              </p:cNvPr>
              <p:cNvSpPr/>
              <p:nvPr/>
            </p:nvSpPr>
            <p:spPr>
              <a:xfrm>
                <a:off x="4823885" y="1178889"/>
                <a:ext cx="4863863" cy="21405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55555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Evaluate candidates and decide reuse</a:t>
                </a:r>
                <a:endParaRPr lang="en-US" sz="800" dirty="0"/>
              </a:p>
            </p:txBody>
          </p:sp>
          <p:sp>
            <p:nvSpPr>
              <p:cNvPr id="29" name="Shape 27">
                <a:extLst>
                  <a:ext uri="{FF2B5EF4-FFF2-40B4-BE49-F238E27FC236}">
                    <a16:creationId xmlns:a16="http://schemas.microsoft.com/office/drawing/2014/main" id="{F2E1B028-39DD-30BF-77FB-C0B9263A90AD}"/>
                  </a:ext>
                </a:extLst>
              </p:cNvPr>
              <p:cNvSpPr/>
              <p:nvPr/>
            </p:nvSpPr>
            <p:spPr>
              <a:xfrm>
                <a:off x="4974314" y="1515270"/>
                <a:ext cx="2206288" cy="2089633"/>
              </a:xfrm>
              <a:prstGeom prst="roundRect">
                <a:avLst>
                  <a:gd name="adj" fmla="val 3902"/>
                </a:avLst>
              </a:prstGeom>
              <a:solidFill>
                <a:srgbClr val="FAF8FE"/>
              </a:solidFill>
              <a:ln w="12700">
                <a:solidFill>
                  <a:srgbClr val="D8CC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 28">
                <a:extLst>
                  <a:ext uri="{FF2B5EF4-FFF2-40B4-BE49-F238E27FC236}">
                    <a16:creationId xmlns:a16="http://schemas.microsoft.com/office/drawing/2014/main" id="{7299B03F-065F-D665-E80D-927F8ABAA535}"/>
                  </a:ext>
                </a:extLst>
              </p:cNvPr>
              <p:cNvSpPr/>
              <p:nvPr/>
            </p:nvSpPr>
            <p:spPr>
              <a:xfrm>
                <a:off x="4974314" y="1596817"/>
                <a:ext cx="2206288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5B3E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Exact-Prefix Branch</a:t>
                </a:r>
                <a:endParaRPr lang="en-US" sz="900" dirty="0"/>
              </a:p>
            </p:txBody>
          </p:sp>
          <p:sp>
            <p:nvSpPr>
              <p:cNvPr id="31" name="Text 29">
                <a:extLst>
                  <a:ext uri="{FF2B5EF4-FFF2-40B4-BE49-F238E27FC236}">
                    <a16:creationId xmlns:a16="http://schemas.microsoft.com/office/drawing/2014/main" id="{3EA3E96B-1241-7A58-1823-25A733E84395}"/>
                  </a:ext>
                </a:extLst>
              </p:cNvPr>
              <p:cNvSpPr/>
              <p:nvPr/>
            </p:nvSpPr>
            <p:spPr>
              <a:xfrm>
                <a:off x="4974314" y="1841457"/>
                <a:ext cx="2206288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66666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(exact match found)</a:t>
                </a:r>
                <a:endParaRPr lang="en-US" sz="600" dirty="0"/>
              </a:p>
            </p:txBody>
          </p:sp>
          <p:sp>
            <p:nvSpPr>
              <p:cNvPr id="32" name="Shape 30">
                <a:extLst>
                  <a:ext uri="{FF2B5EF4-FFF2-40B4-BE49-F238E27FC236}">
                    <a16:creationId xmlns:a16="http://schemas.microsoft.com/office/drawing/2014/main" id="{EEA14DB7-751F-6158-1E64-A0D6902C0C6A}"/>
                  </a:ext>
                </a:extLst>
              </p:cNvPr>
              <p:cNvSpPr/>
              <p:nvPr/>
            </p:nvSpPr>
            <p:spPr>
              <a:xfrm>
                <a:off x="5094657" y="2147257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 31">
                <a:extLst>
                  <a:ext uri="{FF2B5EF4-FFF2-40B4-BE49-F238E27FC236}">
                    <a16:creationId xmlns:a16="http://schemas.microsoft.com/office/drawing/2014/main" id="{81CC98F9-05BC-845B-9663-F7E1483200EF}"/>
                  </a:ext>
                </a:extLst>
              </p:cNvPr>
              <p:cNvSpPr/>
              <p:nvPr/>
            </p:nvSpPr>
            <p:spPr>
              <a:xfrm>
                <a:off x="5124743" y="2167644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Score candidate</a:t>
                </a:r>
                <a:endParaRPr lang="en-US" sz="800" dirty="0"/>
              </a:p>
            </p:txBody>
          </p:sp>
          <p:sp>
            <p:nvSpPr>
              <p:cNvPr id="34" name="Shape 32">
                <a:extLst>
                  <a:ext uri="{FF2B5EF4-FFF2-40B4-BE49-F238E27FC236}">
                    <a16:creationId xmlns:a16="http://schemas.microsoft.com/office/drawing/2014/main" id="{0C6B1FCF-B3D1-5AF6-38D4-D6D2F3E1D196}"/>
                  </a:ext>
                </a:extLst>
              </p:cNvPr>
              <p:cNvSpPr/>
              <p:nvPr/>
            </p:nvSpPr>
            <p:spPr>
              <a:xfrm>
                <a:off x="5094657" y="2616150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A33C6940-62E3-62F4-B596-9FAAED5E8A1D}"/>
                  </a:ext>
                </a:extLst>
              </p:cNvPr>
              <p:cNvSpPr/>
              <p:nvPr/>
            </p:nvSpPr>
            <p:spPr>
              <a:xfrm>
                <a:off x="5124743" y="2636537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Check usefulness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(benefit vs. cost)</a:t>
                </a:r>
                <a:endParaRPr lang="en-US" sz="800" dirty="0"/>
              </a:p>
            </p:txBody>
          </p:sp>
          <p:sp>
            <p:nvSpPr>
              <p:cNvPr id="36" name="Shape 34">
                <a:extLst>
                  <a:ext uri="{FF2B5EF4-FFF2-40B4-BE49-F238E27FC236}">
                    <a16:creationId xmlns:a16="http://schemas.microsoft.com/office/drawing/2014/main" id="{55EAA67B-4735-EFB0-30C0-15ED3F45881A}"/>
                  </a:ext>
                </a:extLst>
              </p:cNvPr>
              <p:cNvSpPr/>
              <p:nvPr/>
            </p:nvSpPr>
            <p:spPr>
              <a:xfrm>
                <a:off x="5094657" y="3085044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E04D0225-E70B-6354-A2A9-8C36385B83D1}"/>
                  </a:ext>
                </a:extLst>
              </p:cNvPr>
              <p:cNvSpPr/>
              <p:nvPr/>
            </p:nvSpPr>
            <p:spPr>
              <a:xfrm>
                <a:off x="5124743" y="3105430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Reuse if useful</a:t>
                </a:r>
                <a:endParaRPr lang="en-US" sz="800" dirty="0"/>
              </a:p>
            </p:txBody>
          </p:sp>
          <p:sp>
            <p:nvSpPr>
              <p:cNvPr id="38" name="Shape 36">
                <a:extLst>
                  <a:ext uri="{FF2B5EF4-FFF2-40B4-BE49-F238E27FC236}">
                    <a16:creationId xmlns:a16="http://schemas.microsoft.com/office/drawing/2014/main" id="{96F0C8F6-BA9A-93CA-7CBF-E46EE8AA57CE}"/>
                  </a:ext>
                </a:extLst>
              </p:cNvPr>
              <p:cNvSpPr/>
              <p:nvPr/>
            </p:nvSpPr>
            <p:spPr>
              <a:xfrm>
                <a:off x="7331031" y="1515270"/>
                <a:ext cx="2206288" cy="2089633"/>
              </a:xfrm>
              <a:prstGeom prst="roundRect">
                <a:avLst>
                  <a:gd name="adj" fmla="val 3902"/>
                </a:avLst>
              </a:prstGeom>
              <a:solidFill>
                <a:srgbClr val="FAF8FE"/>
              </a:solidFill>
              <a:ln w="12700">
                <a:solidFill>
                  <a:srgbClr val="D8CC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 37">
                <a:extLst>
                  <a:ext uri="{FF2B5EF4-FFF2-40B4-BE49-F238E27FC236}">
                    <a16:creationId xmlns:a16="http://schemas.microsoft.com/office/drawing/2014/main" id="{7418D100-4715-3105-B9CD-D25AA95B6944}"/>
                  </a:ext>
                </a:extLst>
              </p:cNvPr>
              <p:cNvSpPr/>
              <p:nvPr/>
            </p:nvSpPr>
            <p:spPr>
              <a:xfrm>
                <a:off x="7331031" y="1596817"/>
                <a:ext cx="2206288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5B3E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Semantic Branch</a:t>
                </a:r>
                <a:endParaRPr lang="en-US" sz="900" dirty="0"/>
              </a:p>
            </p:txBody>
          </p:sp>
          <p:sp>
            <p:nvSpPr>
              <p:cNvPr id="40" name="Text 38">
                <a:extLst>
                  <a:ext uri="{FF2B5EF4-FFF2-40B4-BE49-F238E27FC236}">
                    <a16:creationId xmlns:a16="http://schemas.microsoft.com/office/drawing/2014/main" id="{800C9010-C889-39E3-49DA-EB0937BCBE07}"/>
                  </a:ext>
                </a:extLst>
              </p:cNvPr>
              <p:cNvSpPr/>
              <p:nvPr/>
            </p:nvSpPr>
            <p:spPr>
              <a:xfrm>
                <a:off x="7331031" y="1841457"/>
                <a:ext cx="2206288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66666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(no exact match)</a:t>
                </a:r>
                <a:endParaRPr lang="en-US" sz="600" dirty="0"/>
              </a:p>
            </p:txBody>
          </p:sp>
          <p:sp>
            <p:nvSpPr>
              <p:cNvPr id="41" name="Shape 39">
                <a:extLst>
                  <a:ext uri="{FF2B5EF4-FFF2-40B4-BE49-F238E27FC236}">
                    <a16:creationId xmlns:a16="http://schemas.microsoft.com/office/drawing/2014/main" id="{5B6533A5-B8AF-95C4-198A-0DDC3792AEAF}"/>
                  </a:ext>
                </a:extLst>
              </p:cNvPr>
              <p:cNvSpPr/>
              <p:nvPr/>
            </p:nvSpPr>
            <p:spPr>
              <a:xfrm>
                <a:off x="7451374" y="2147257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D7D157E2-C8D7-6CFD-847F-28411F457461}"/>
                  </a:ext>
                </a:extLst>
              </p:cNvPr>
              <p:cNvSpPr/>
              <p:nvPr/>
            </p:nvSpPr>
            <p:spPr>
              <a:xfrm>
                <a:off x="7481460" y="2167644"/>
                <a:ext cx="1905431" cy="32505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Score candidate</a:t>
                </a:r>
                <a:endParaRPr lang="en-US" sz="800" dirty="0"/>
              </a:p>
            </p:txBody>
          </p:sp>
          <p:sp>
            <p:nvSpPr>
              <p:cNvPr id="43" name="Shape 41">
                <a:extLst>
                  <a:ext uri="{FF2B5EF4-FFF2-40B4-BE49-F238E27FC236}">
                    <a16:creationId xmlns:a16="http://schemas.microsoft.com/office/drawing/2014/main" id="{B4674DCD-94AB-816C-D544-BC591C3A31AE}"/>
                  </a:ext>
                </a:extLst>
              </p:cNvPr>
              <p:cNvSpPr/>
              <p:nvPr/>
            </p:nvSpPr>
            <p:spPr>
              <a:xfrm>
                <a:off x="7451374" y="2616150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42">
                <a:extLst>
                  <a:ext uri="{FF2B5EF4-FFF2-40B4-BE49-F238E27FC236}">
                    <a16:creationId xmlns:a16="http://schemas.microsoft.com/office/drawing/2014/main" id="{201D44A1-6AD7-73B7-1D7C-3965C7D9461B}"/>
                  </a:ext>
                </a:extLst>
              </p:cNvPr>
              <p:cNvSpPr/>
              <p:nvPr/>
            </p:nvSpPr>
            <p:spPr>
              <a:xfrm>
                <a:off x="7481460" y="2636537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Guard for reliability</a:t>
                </a:r>
                <a:endParaRPr lang="en-US" sz="800" dirty="0"/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(similarity &amp; risk)</a:t>
                </a:r>
                <a:endParaRPr lang="en-US" sz="800" dirty="0"/>
              </a:p>
            </p:txBody>
          </p:sp>
          <p:sp>
            <p:nvSpPr>
              <p:cNvPr id="45" name="Shape 43">
                <a:extLst>
                  <a:ext uri="{FF2B5EF4-FFF2-40B4-BE49-F238E27FC236}">
                    <a16:creationId xmlns:a16="http://schemas.microsoft.com/office/drawing/2014/main" id="{B89F10E5-C400-4E54-4ADB-E3ED23A193B7}"/>
                  </a:ext>
                </a:extLst>
              </p:cNvPr>
              <p:cNvSpPr/>
              <p:nvPr/>
            </p:nvSpPr>
            <p:spPr>
              <a:xfrm>
                <a:off x="7451374" y="3085044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44">
                <a:extLst>
                  <a:ext uri="{FF2B5EF4-FFF2-40B4-BE49-F238E27FC236}">
                    <a16:creationId xmlns:a16="http://schemas.microsoft.com/office/drawing/2014/main" id="{C020FC2C-84D7-DF61-65CC-6037A80866A0}"/>
                  </a:ext>
                </a:extLst>
              </p:cNvPr>
              <p:cNvSpPr/>
              <p:nvPr/>
            </p:nvSpPr>
            <p:spPr>
              <a:xfrm>
                <a:off x="7481460" y="3105430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Reuse if safe and useful</a:t>
                </a:r>
                <a:endParaRPr lang="en-US" sz="800" dirty="0"/>
              </a:p>
            </p:txBody>
          </p:sp>
          <p:sp>
            <p:nvSpPr>
              <p:cNvPr id="47" name="Shape 45">
                <a:extLst>
                  <a:ext uri="{FF2B5EF4-FFF2-40B4-BE49-F238E27FC236}">
                    <a16:creationId xmlns:a16="http://schemas.microsoft.com/office/drawing/2014/main" id="{3FFD5A4D-D7E6-B144-4E5D-A23E21338DEB}"/>
                  </a:ext>
                </a:extLst>
              </p:cNvPr>
              <p:cNvSpPr/>
              <p:nvPr/>
            </p:nvSpPr>
            <p:spPr>
              <a:xfrm>
                <a:off x="4974314" y="3706837"/>
                <a:ext cx="4563005" cy="560633"/>
              </a:xfrm>
              <a:prstGeom prst="roundRect">
                <a:avLst>
                  <a:gd name="adj" fmla="val 14545"/>
                </a:avLst>
              </a:prstGeom>
              <a:solidFill>
                <a:srgbClr val="EAE1F7"/>
              </a:solidFill>
              <a:ln w="12700">
                <a:solidFill>
                  <a:srgbClr val="C9B3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 46">
                <a:extLst>
                  <a:ext uri="{FF2B5EF4-FFF2-40B4-BE49-F238E27FC236}">
                    <a16:creationId xmlns:a16="http://schemas.microsoft.com/office/drawing/2014/main" id="{5C5C851A-EE4F-CCBD-B814-0E82417E12CC}"/>
                  </a:ext>
                </a:extLst>
              </p:cNvPr>
              <p:cNvSpPr/>
              <p:nvPr/>
            </p:nvSpPr>
            <p:spPr>
              <a:xfrm>
                <a:off x="4974314" y="3747610"/>
                <a:ext cx="4563005" cy="244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5B3E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Risk-Averse Extension</a:t>
                </a:r>
                <a:endParaRPr lang="en-US" sz="800" dirty="0"/>
              </a:p>
            </p:txBody>
          </p:sp>
          <p:sp>
            <p:nvSpPr>
              <p:cNvPr id="49" name="Text 47">
                <a:extLst>
                  <a:ext uri="{FF2B5EF4-FFF2-40B4-BE49-F238E27FC236}">
                    <a16:creationId xmlns:a16="http://schemas.microsoft.com/office/drawing/2014/main" id="{B47224D0-C662-8B58-6522-45CE5067ED9B}"/>
                  </a:ext>
                </a:extLst>
              </p:cNvPr>
              <p:cNvSpPr/>
              <p:nvPr/>
            </p:nvSpPr>
            <p:spPr>
              <a:xfrm>
                <a:off x="4974314" y="3982057"/>
                <a:ext cx="4563005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55555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Penalize high-risk reuse (misleading matches)</a:t>
                </a:r>
                <a:endParaRPr lang="en-US" sz="600" dirty="0"/>
              </a:p>
            </p:txBody>
          </p:sp>
          <p:sp>
            <p:nvSpPr>
              <p:cNvPr id="50" name="Shape 48">
                <a:extLst>
                  <a:ext uri="{FF2B5EF4-FFF2-40B4-BE49-F238E27FC236}">
                    <a16:creationId xmlns:a16="http://schemas.microsoft.com/office/drawing/2014/main" id="{3A086397-5F11-B0B9-88B0-9015E87F9E01}"/>
                  </a:ext>
                </a:extLst>
              </p:cNvPr>
              <p:cNvSpPr/>
              <p:nvPr/>
            </p:nvSpPr>
            <p:spPr>
              <a:xfrm>
                <a:off x="10038748" y="989131"/>
                <a:ext cx="1905431" cy="3240347"/>
              </a:xfrm>
              <a:prstGeom prst="roundRect">
                <a:avLst>
                  <a:gd name="adj" fmla="val 4211"/>
                </a:avLst>
              </a:prstGeom>
              <a:solidFill>
                <a:srgbClr val="EBF2FC"/>
              </a:solidFill>
              <a:ln w="15875">
                <a:solidFill>
                  <a:srgbClr val="3B6FC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Shape 49">
                <a:extLst>
                  <a:ext uri="{FF2B5EF4-FFF2-40B4-BE49-F238E27FC236}">
                    <a16:creationId xmlns:a16="http://schemas.microsoft.com/office/drawing/2014/main" id="{6B252EA3-CBB9-62B7-4000-2490ACAB52A0}"/>
                  </a:ext>
                </a:extLst>
              </p:cNvPr>
              <p:cNvSpPr/>
              <p:nvPr/>
            </p:nvSpPr>
            <p:spPr>
              <a:xfrm>
                <a:off x="10189177" y="1172611"/>
                <a:ext cx="320915" cy="326187"/>
              </a:xfrm>
              <a:prstGeom prst="ellipse">
                <a:avLst/>
              </a:prstGeom>
              <a:solidFill>
                <a:srgbClr val="1F3F86"/>
              </a:solidFill>
              <a:ln w="12700">
                <a:solidFill>
                  <a:srgbClr val="1F3F8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 50">
                <a:extLst>
                  <a:ext uri="{FF2B5EF4-FFF2-40B4-BE49-F238E27FC236}">
                    <a16:creationId xmlns:a16="http://schemas.microsoft.com/office/drawing/2014/main" id="{73D6C0FB-7F45-1928-0F54-BF3A58C66338}"/>
                  </a:ext>
                </a:extLst>
              </p:cNvPr>
              <p:cNvSpPr/>
              <p:nvPr/>
            </p:nvSpPr>
            <p:spPr>
              <a:xfrm>
                <a:off x="10189177" y="1172611"/>
                <a:ext cx="320915" cy="32618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</a:t>
                </a:r>
                <a:endParaRPr lang="en-US" sz="1000" dirty="0"/>
              </a:p>
            </p:txBody>
          </p:sp>
          <p:sp>
            <p:nvSpPr>
              <p:cNvPr id="53" name="Text 51">
                <a:extLst>
                  <a:ext uri="{FF2B5EF4-FFF2-40B4-BE49-F238E27FC236}">
                    <a16:creationId xmlns:a16="http://schemas.microsoft.com/office/drawing/2014/main" id="{98639537-BAC5-5B71-DF67-0DBA8BA2DB0A}"/>
                  </a:ext>
                </a:extLst>
              </p:cNvPr>
              <p:cNvSpPr/>
              <p:nvPr/>
            </p:nvSpPr>
            <p:spPr>
              <a:xfrm>
                <a:off x="10590320" y="1121644"/>
                <a:ext cx="1253573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3F8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Reuse</a:t>
                </a:r>
                <a:endParaRPr lang="en-US" sz="1000" dirty="0"/>
              </a:p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1F3F8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Decision</a:t>
                </a:r>
                <a:endParaRPr lang="en-US" sz="1000" dirty="0"/>
              </a:p>
            </p:txBody>
          </p:sp>
          <p:sp>
            <p:nvSpPr>
              <p:cNvPr id="54" name="Shape 52">
                <a:extLst>
                  <a:ext uri="{FF2B5EF4-FFF2-40B4-BE49-F238E27FC236}">
                    <a16:creationId xmlns:a16="http://schemas.microsoft.com/office/drawing/2014/main" id="{631FD7C7-6DB8-16BE-539E-23905EA75078}"/>
                  </a:ext>
                </a:extLst>
              </p:cNvPr>
              <p:cNvSpPr/>
              <p:nvPr/>
            </p:nvSpPr>
            <p:spPr>
              <a:xfrm>
                <a:off x="10189177" y="1906531"/>
                <a:ext cx="1604573" cy="968366"/>
              </a:xfrm>
              <a:prstGeom prst="roundRect">
                <a:avLst>
                  <a:gd name="adj" fmla="val 8421"/>
                </a:avLst>
              </a:prstGeom>
              <a:solidFill>
                <a:srgbClr val="EAF7EC"/>
              </a:solidFill>
              <a:ln w="12700">
                <a:solidFill>
                  <a:srgbClr val="3C8A4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 53">
                <a:extLst>
                  <a:ext uri="{FF2B5EF4-FFF2-40B4-BE49-F238E27FC236}">
                    <a16:creationId xmlns:a16="http://schemas.microsoft.com/office/drawing/2014/main" id="{BC7917C7-130E-43D8-D70F-852FA3BFA0C1}"/>
                  </a:ext>
                </a:extLst>
              </p:cNvPr>
              <p:cNvSpPr/>
              <p:nvPr/>
            </p:nvSpPr>
            <p:spPr>
              <a:xfrm>
                <a:off x="10189177" y="2008464"/>
                <a:ext cx="1604573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1F5C2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Reuse</a:t>
                </a:r>
                <a:endParaRPr lang="en-US" sz="900" dirty="0"/>
              </a:p>
            </p:txBody>
          </p:sp>
          <p:sp>
            <p:nvSpPr>
              <p:cNvPr id="56" name="Text 54">
                <a:extLst>
                  <a:ext uri="{FF2B5EF4-FFF2-40B4-BE49-F238E27FC236}">
                    <a16:creationId xmlns:a16="http://schemas.microsoft.com/office/drawing/2014/main" id="{8BEAD7B4-5BCA-C531-FF5E-31EC8B73AD0C}"/>
                  </a:ext>
                </a:extLst>
              </p:cNvPr>
              <p:cNvSpPr/>
              <p:nvPr/>
            </p:nvSpPr>
            <p:spPr>
              <a:xfrm>
                <a:off x="10239320" y="2293878"/>
                <a:ext cx="1504287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Return cached KV</a:t>
                </a:r>
                <a:endParaRPr lang="en-US" sz="700" dirty="0"/>
              </a:p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(exact or semantic)</a:t>
                </a:r>
                <a:endParaRPr lang="en-US" sz="700" dirty="0"/>
              </a:p>
            </p:txBody>
          </p:sp>
          <p:sp>
            <p:nvSpPr>
              <p:cNvPr id="57" name="Shape 55">
                <a:extLst>
                  <a:ext uri="{FF2B5EF4-FFF2-40B4-BE49-F238E27FC236}">
                    <a16:creationId xmlns:a16="http://schemas.microsoft.com/office/drawing/2014/main" id="{7C176503-832A-7F0F-D74E-3CB66A18B9B5}"/>
                  </a:ext>
                </a:extLst>
              </p:cNvPr>
              <p:cNvSpPr/>
              <p:nvPr/>
            </p:nvSpPr>
            <p:spPr>
              <a:xfrm>
                <a:off x="10189177" y="3027797"/>
                <a:ext cx="1604573" cy="968366"/>
              </a:xfrm>
              <a:prstGeom prst="roundRect">
                <a:avLst>
                  <a:gd name="adj" fmla="val 8421"/>
                </a:avLst>
              </a:prstGeom>
              <a:solidFill>
                <a:srgbClr val="FCEDED"/>
              </a:solidFill>
              <a:ln w="12700">
                <a:solidFill>
                  <a:srgbClr val="C96A6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 56">
                <a:extLst>
                  <a:ext uri="{FF2B5EF4-FFF2-40B4-BE49-F238E27FC236}">
                    <a16:creationId xmlns:a16="http://schemas.microsoft.com/office/drawing/2014/main" id="{9892B58E-9EEE-6133-D234-88D735C59619}"/>
                  </a:ext>
                </a:extLst>
              </p:cNvPr>
              <p:cNvSpPr/>
              <p:nvPr/>
            </p:nvSpPr>
            <p:spPr>
              <a:xfrm>
                <a:off x="10189177" y="3129731"/>
                <a:ext cx="1604573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9E3A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Bypass</a:t>
                </a:r>
                <a:endParaRPr lang="en-US" sz="900" dirty="0"/>
              </a:p>
            </p:txBody>
          </p:sp>
          <p:sp>
            <p:nvSpPr>
              <p:cNvPr id="59" name="Text 57">
                <a:extLst>
                  <a:ext uri="{FF2B5EF4-FFF2-40B4-BE49-F238E27FC236}">
                    <a16:creationId xmlns:a16="http://schemas.microsoft.com/office/drawing/2014/main" id="{AD18888D-AE22-51CA-F2F4-C86AD1DCDCB5}"/>
                  </a:ext>
                </a:extLst>
              </p:cNvPr>
              <p:cNvSpPr/>
              <p:nvPr/>
            </p:nvSpPr>
            <p:spPr>
              <a:xfrm>
                <a:off x="10239320" y="3415144"/>
                <a:ext cx="1504287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reuse,</a:t>
                </a:r>
                <a:endParaRPr lang="en-US" sz="700" dirty="0"/>
              </a:p>
              <a:p>
                <a:pPr marL="0" indent="0" algn="ctr">
                  <a:buNone/>
                </a:pPr>
                <a:r>
                  <a:rPr lang="en-US" sz="700" dirty="0">
                    <a:solidFill>
                      <a:srgbClr val="44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compute normally</a:t>
                </a:r>
                <a:endParaRPr lang="en-US" sz="700" dirty="0"/>
              </a:p>
            </p:txBody>
          </p:sp>
          <p:sp>
            <p:nvSpPr>
              <p:cNvPr id="60" name="Shape 58">
                <a:extLst>
                  <a:ext uri="{FF2B5EF4-FFF2-40B4-BE49-F238E27FC236}">
                    <a16:creationId xmlns:a16="http://schemas.microsoft.com/office/drawing/2014/main" id="{F9929276-BCAD-FE4E-AF32-AEF2451AEA64}"/>
                  </a:ext>
                </a:extLst>
              </p:cNvPr>
              <p:cNvSpPr/>
              <p:nvPr/>
            </p:nvSpPr>
            <p:spPr>
              <a:xfrm>
                <a:off x="2166311" y="2560087"/>
                <a:ext cx="300857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Shape 59">
                <a:extLst>
                  <a:ext uri="{FF2B5EF4-FFF2-40B4-BE49-F238E27FC236}">
                    <a16:creationId xmlns:a16="http://schemas.microsoft.com/office/drawing/2014/main" id="{B1775027-CB38-854D-8AA2-F8A0974F03FD}"/>
                  </a:ext>
                </a:extLst>
              </p:cNvPr>
              <p:cNvSpPr/>
              <p:nvPr/>
            </p:nvSpPr>
            <p:spPr>
              <a:xfrm>
                <a:off x="4523028" y="2560087"/>
                <a:ext cx="300857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60">
                <a:extLst>
                  <a:ext uri="{FF2B5EF4-FFF2-40B4-BE49-F238E27FC236}">
                    <a16:creationId xmlns:a16="http://schemas.microsoft.com/office/drawing/2014/main" id="{9178B4FC-60A1-869B-9BFE-8EC4111D2B4B}"/>
                  </a:ext>
                </a:extLst>
              </p:cNvPr>
              <p:cNvSpPr/>
              <p:nvPr/>
            </p:nvSpPr>
            <p:spPr>
              <a:xfrm>
                <a:off x="9687748" y="2560087"/>
                <a:ext cx="351000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Shape 61">
                <a:extLst>
                  <a:ext uri="{FF2B5EF4-FFF2-40B4-BE49-F238E27FC236}">
                    <a16:creationId xmlns:a16="http://schemas.microsoft.com/office/drawing/2014/main" id="{4536DC99-CB17-F8AD-A7BB-D4EA5F1A6829}"/>
                  </a:ext>
                </a:extLst>
              </p:cNvPr>
              <p:cNvSpPr/>
              <p:nvPr/>
            </p:nvSpPr>
            <p:spPr>
              <a:xfrm>
                <a:off x="10705649" y="322650"/>
                <a:ext cx="0" cy="66648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Shape 62">
                <a:extLst>
                  <a:ext uri="{FF2B5EF4-FFF2-40B4-BE49-F238E27FC236}">
                    <a16:creationId xmlns:a16="http://schemas.microsoft.com/office/drawing/2014/main" id="{9B80B265-6A28-FF13-AFBE-709AF76E7F88}"/>
                  </a:ext>
                </a:extLst>
              </p:cNvPr>
              <p:cNvSpPr/>
              <p:nvPr/>
            </p:nvSpPr>
            <p:spPr>
              <a:xfrm>
                <a:off x="7499010" y="322651"/>
                <a:ext cx="3206639" cy="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Shape 63">
                <a:extLst>
                  <a:ext uri="{FF2B5EF4-FFF2-40B4-BE49-F238E27FC236}">
                    <a16:creationId xmlns:a16="http://schemas.microsoft.com/office/drawing/2014/main" id="{34E378AB-0BE2-A83C-04C1-61C55BE7FC61}"/>
                  </a:ext>
                </a:extLst>
              </p:cNvPr>
              <p:cNvSpPr/>
              <p:nvPr/>
            </p:nvSpPr>
            <p:spPr>
              <a:xfrm>
                <a:off x="7499010" y="322651"/>
                <a:ext cx="0" cy="27522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 64">
                <a:extLst>
                  <a:ext uri="{FF2B5EF4-FFF2-40B4-BE49-F238E27FC236}">
                    <a16:creationId xmlns:a16="http://schemas.microsoft.com/office/drawing/2014/main" id="{A90E317D-649A-80E0-9CB1-A9828A84A219}"/>
                  </a:ext>
                </a:extLst>
              </p:cNvPr>
              <p:cNvSpPr/>
              <p:nvPr/>
            </p:nvSpPr>
            <p:spPr>
              <a:xfrm>
                <a:off x="6897295" y="302264"/>
                <a:ext cx="4410069" cy="30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6A4FA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Observed hit / waste</a:t>
                </a:r>
                <a:endParaRPr lang="en-US" sz="800" dirty="0"/>
              </a:p>
            </p:txBody>
          </p:sp>
        </p:grp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0DB3318B-92BE-CC63-5066-308499A43A67}"/>
                </a:ext>
              </a:extLst>
            </p:cNvPr>
            <p:cNvSpPr/>
            <p:nvPr/>
          </p:nvSpPr>
          <p:spPr>
            <a:xfrm>
              <a:off x="7957280" y="810944"/>
              <a:ext cx="1225505" cy="1923838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>
              <a:extLst>
                <a:ext uri="{FF2B5EF4-FFF2-40B4-BE49-F238E27FC236}">
                  <a16:creationId xmlns:a16="http://schemas.microsoft.com/office/drawing/2014/main" id="{8759EFB9-A599-473E-6FFF-DBE8D5FF886E}"/>
                </a:ext>
              </a:extLst>
            </p:cNvPr>
            <p:cNvSpPr/>
            <p:nvPr/>
          </p:nvSpPr>
          <p:spPr>
            <a:xfrm>
              <a:off x="8016640" y="944064"/>
              <a:ext cx="217453" cy="221025"/>
            </a:xfrm>
            <a:prstGeom prst="ellipse">
              <a:avLst/>
            </a:prstGeom>
            <a:solidFill>
              <a:srgbClr val="6E6E6E"/>
            </a:solidFill>
            <a:ln w="12700">
              <a:solidFill>
                <a:srgbClr val="6E6E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>
              <a:extLst>
                <a:ext uri="{FF2B5EF4-FFF2-40B4-BE49-F238E27FC236}">
                  <a16:creationId xmlns:a16="http://schemas.microsoft.com/office/drawing/2014/main" id="{E323C3F1-19E5-FFFC-357B-A56DF052CAB4}"/>
                </a:ext>
              </a:extLst>
            </p:cNvPr>
            <p:cNvSpPr/>
            <p:nvPr/>
          </p:nvSpPr>
          <p:spPr>
            <a:xfrm>
              <a:off x="8016639" y="943222"/>
              <a:ext cx="217453" cy="2210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000" dirty="0"/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AD09ED95-1E91-89BD-5E70-9CA0A4B274FA}"/>
                </a:ext>
              </a:extLst>
            </p:cNvPr>
            <p:cNvSpPr/>
            <p:nvPr/>
          </p:nvSpPr>
          <p:spPr>
            <a:xfrm>
              <a:off x="8191842" y="970022"/>
              <a:ext cx="1305549" cy="1820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Calibration &amp; Thresholding</a:t>
              </a:r>
              <a:endParaRPr lang="en-US" sz="1000" dirty="0"/>
            </a:p>
          </p:txBody>
        </p:sp>
        <p:sp>
          <p:nvSpPr>
            <p:cNvPr id="71" name="Text 69">
              <a:extLst>
                <a:ext uri="{FF2B5EF4-FFF2-40B4-BE49-F238E27FC236}">
                  <a16:creationId xmlns:a16="http://schemas.microsoft.com/office/drawing/2014/main" id="{DD509410-AF18-85C5-6B74-6F1F01FA3780}"/>
                </a:ext>
              </a:extLst>
            </p:cNvPr>
            <p:cNvSpPr/>
            <p:nvPr/>
          </p:nvSpPr>
          <p:spPr>
            <a:xfrm>
              <a:off x="7983736" y="1338148"/>
              <a:ext cx="1305548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 decision thresholds to balance benefit, cost, and risk using empirical data.</a:t>
              </a:r>
              <a:endParaRPr lang="en-US" sz="600" dirty="0"/>
            </a:p>
          </p:txBody>
        </p:sp>
        <p:sp>
          <p:nvSpPr>
            <p:cNvPr id="72" name="Shape 70">
              <a:extLst>
                <a:ext uri="{FF2B5EF4-FFF2-40B4-BE49-F238E27FC236}">
                  <a16:creationId xmlns:a16="http://schemas.microsoft.com/office/drawing/2014/main" id="{3FAC1137-98ED-BA08-195A-B6683F75B4C0}"/>
                </a:ext>
              </a:extLst>
            </p:cNvPr>
            <p:cNvSpPr/>
            <p:nvPr/>
          </p:nvSpPr>
          <p:spPr>
            <a:xfrm>
              <a:off x="8021237" y="1692298"/>
              <a:ext cx="1087262" cy="292533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71">
              <a:extLst>
                <a:ext uri="{FF2B5EF4-FFF2-40B4-BE49-F238E27FC236}">
                  <a16:creationId xmlns:a16="http://schemas.microsoft.com/office/drawing/2014/main" id="{EF388E02-8670-7E3B-27DF-53B18484CDD2}"/>
                </a:ext>
              </a:extLst>
            </p:cNvPr>
            <p:cNvSpPr/>
            <p:nvPr/>
          </p:nvSpPr>
          <p:spPr>
            <a:xfrm>
              <a:off x="8053215" y="1711800"/>
              <a:ext cx="1023306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thresholds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(breakeven points)</a:t>
              </a:r>
              <a:endParaRPr lang="en-US" sz="700" dirty="0"/>
            </a:p>
          </p:txBody>
        </p:sp>
        <p:sp>
          <p:nvSpPr>
            <p:cNvPr id="74" name="Shape 72">
              <a:extLst>
                <a:ext uri="{FF2B5EF4-FFF2-40B4-BE49-F238E27FC236}">
                  <a16:creationId xmlns:a16="http://schemas.microsoft.com/office/drawing/2014/main" id="{44D441CD-4F4A-5B23-07B1-C2F759C08268}"/>
                </a:ext>
              </a:extLst>
            </p:cNvPr>
            <p:cNvSpPr/>
            <p:nvPr/>
          </p:nvSpPr>
          <p:spPr>
            <a:xfrm>
              <a:off x="8021237" y="2033930"/>
              <a:ext cx="1087262" cy="292533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F8FEA2FA-9B3A-70E6-7813-32CE30AD6B3C}"/>
                </a:ext>
              </a:extLst>
            </p:cNvPr>
            <p:cNvSpPr/>
            <p:nvPr/>
          </p:nvSpPr>
          <p:spPr>
            <a:xfrm>
              <a:off x="8053215" y="2033930"/>
              <a:ext cx="1023306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Adapt to workload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characteristics</a:t>
              </a:r>
              <a:endParaRPr lang="en-US" sz="700" dirty="0"/>
            </a:p>
          </p:txBody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490F2091-17B2-3F79-1466-F1CA00BD638A}"/>
                </a:ext>
              </a:extLst>
            </p:cNvPr>
            <p:cNvSpPr/>
            <p:nvPr/>
          </p:nvSpPr>
          <p:spPr>
            <a:xfrm>
              <a:off x="8021237" y="2358794"/>
              <a:ext cx="1087262" cy="292533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75">
              <a:extLst>
                <a:ext uri="{FF2B5EF4-FFF2-40B4-BE49-F238E27FC236}">
                  <a16:creationId xmlns:a16="http://schemas.microsoft.com/office/drawing/2014/main" id="{B45A458C-2E48-909D-8A03-C574C8F31BDD}"/>
                </a:ext>
              </a:extLst>
            </p:cNvPr>
            <p:cNvSpPr/>
            <p:nvPr/>
          </p:nvSpPr>
          <p:spPr>
            <a:xfrm>
              <a:off x="8053215" y="2378296"/>
              <a:ext cx="1023306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 precision–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recall trade-off</a:t>
              </a:r>
              <a:endParaRPr lang="en-US" sz="700" dirty="0"/>
            </a:p>
          </p:txBody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BB4E06E9-7D1F-B202-7AD9-0B8996C45FB2}"/>
                </a:ext>
              </a:extLst>
            </p:cNvPr>
            <p:cNvSpPr/>
            <p:nvPr/>
          </p:nvSpPr>
          <p:spPr>
            <a:xfrm>
              <a:off x="9382933" y="810944"/>
              <a:ext cx="1225505" cy="1923838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4DA281F9-DFEA-0451-1FED-894F13B14921}"/>
                </a:ext>
              </a:extLst>
            </p:cNvPr>
            <p:cNvSpPr/>
            <p:nvPr/>
          </p:nvSpPr>
          <p:spPr>
            <a:xfrm>
              <a:off x="9432741" y="900754"/>
              <a:ext cx="217453" cy="221025"/>
            </a:xfrm>
            <a:prstGeom prst="ellipse">
              <a:avLst/>
            </a:prstGeom>
            <a:solidFill>
              <a:srgbClr val="6E6E6E"/>
            </a:solidFill>
            <a:ln w="12700">
              <a:solidFill>
                <a:srgbClr val="6E6E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78">
              <a:extLst>
                <a:ext uri="{FF2B5EF4-FFF2-40B4-BE49-F238E27FC236}">
                  <a16:creationId xmlns:a16="http://schemas.microsoft.com/office/drawing/2014/main" id="{ACD9FA95-8B6B-8808-272C-BB6CDFE689EE}"/>
                </a:ext>
              </a:extLst>
            </p:cNvPr>
            <p:cNvSpPr/>
            <p:nvPr/>
          </p:nvSpPr>
          <p:spPr>
            <a:xfrm>
              <a:off x="9432741" y="900754"/>
              <a:ext cx="217453" cy="2210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81" name="Text 79">
              <a:extLst>
                <a:ext uri="{FF2B5EF4-FFF2-40B4-BE49-F238E27FC236}">
                  <a16:creationId xmlns:a16="http://schemas.microsoft.com/office/drawing/2014/main" id="{516DB5A2-E5CE-0502-85F8-BA319227F8BE}"/>
                </a:ext>
              </a:extLst>
            </p:cNvPr>
            <p:cNvSpPr/>
            <p:nvPr/>
          </p:nvSpPr>
          <p:spPr>
            <a:xfrm>
              <a:off x="9635368" y="879741"/>
              <a:ext cx="1084342" cy="28404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Offline Policy Learner</a:t>
              </a:r>
              <a:endParaRPr lang="en-US" sz="1000" dirty="0"/>
            </a:p>
          </p:txBody>
        </p:sp>
        <p:sp>
          <p:nvSpPr>
            <p:cNvPr id="82" name="Text 80">
              <a:extLst>
                <a:ext uri="{FF2B5EF4-FFF2-40B4-BE49-F238E27FC236}">
                  <a16:creationId xmlns:a16="http://schemas.microsoft.com/office/drawing/2014/main" id="{AD9F1307-8B1B-B39A-81DF-7495958EE9EE}"/>
                </a:ext>
              </a:extLst>
            </p:cNvPr>
            <p:cNvSpPr/>
            <p:nvPr/>
          </p:nvSpPr>
          <p:spPr>
            <a:xfrm>
              <a:off x="9382933" y="1186316"/>
              <a:ext cx="1225505" cy="23640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optimal decision policy and parameters offline.</a:t>
              </a:r>
              <a:endParaRPr lang="en-US" sz="600" dirty="0"/>
            </a:p>
          </p:txBody>
        </p:sp>
        <p:sp>
          <p:nvSpPr>
            <p:cNvPr id="83" name="Shape 81">
              <a:extLst>
                <a:ext uri="{FF2B5EF4-FFF2-40B4-BE49-F238E27FC236}">
                  <a16:creationId xmlns:a16="http://schemas.microsoft.com/office/drawing/2014/main" id="{A9AE6692-DBD9-D476-8664-9AF645C7B636}"/>
                </a:ext>
              </a:extLst>
            </p:cNvPr>
            <p:cNvSpPr/>
            <p:nvPr/>
          </p:nvSpPr>
          <p:spPr>
            <a:xfrm>
              <a:off x="9470994" y="1477975"/>
              <a:ext cx="1012789" cy="36404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82">
              <a:extLst>
                <a:ext uri="{FF2B5EF4-FFF2-40B4-BE49-F238E27FC236}">
                  <a16:creationId xmlns:a16="http://schemas.microsoft.com/office/drawing/2014/main" id="{28FCBC10-C9E2-0016-D668-1F5AB273F4C7}"/>
                </a:ext>
              </a:extLst>
            </p:cNvPr>
            <p:cNvSpPr/>
            <p:nvPr/>
          </p:nvSpPr>
          <p:spPr>
            <a:xfrm>
              <a:off x="9502972" y="1536154"/>
              <a:ext cx="965557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Search for optimal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thresholds</a:t>
              </a:r>
              <a:endParaRPr lang="en-US" sz="700" dirty="0"/>
            </a:p>
          </p:txBody>
        </p:sp>
        <p:sp>
          <p:nvSpPr>
            <p:cNvPr id="85" name="Shape 83">
              <a:extLst>
                <a:ext uri="{FF2B5EF4-FFF2-40B4-BE49-F238E27FC236}">
                  <a16:creationId xmlns:a16="http://schemas.microsoft.com/office/drawing/2014/main" id="{D6C07519-87C3-E3BA-2453-9C781ED789FA}"/>
                </a:ext>
              </a:extLst>
            </p:cNvPr>
            <p:cNvSpPr/>
            <p:nvPr/>
          </p:nvSpPr>
          <p:spPr>
            <a:xfrm>
              <a:off x="9470994" y="1889041"/>
              <a:ext cx="1012789" cy="36404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84">
              <a:extLst>
                <a:ext uri="{FF2B5EF4-FFF2-40B4-BE49-F238E27FC236}">
                  <a16:creationId xmlns:a16="http://schemas.microsoft.com/office/drawing/2014/main" id="{35967223-165D-88CF-C199-14EC9337F747}"/>
                </a:ext>
              </a:extLst>
            </p:cNvPr>
            <p:cNvSpPr/>
            <p:nvPr/>
          </p:nvSpPr>
          <p:spPr>
            <a:xfrm>
              <a:off x="9502972" y="1947220"/>
              <a:ext cx="965557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 model weights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and risk penalties</a:t>
              </a:r>
              <a:endParaRPr lang="en-US" sz="700" dirty="0"/>
            </a:p>
          </p:txBody>
        </p:sp>
        <p:sp>
          <p:nvSpPr>
            <p:cNvPr id="87" name="Shape 85">
              <a:extLst>
                <a:ext uri="{FF2B5EF4-FFF2-40B4-BE49-F238E27FC236}">
                  <a16:creationId xmlns:a16="http://schemas.microsoft.com/office/drawing/2014/main" id="{7EFEAD71-14D1-F437-B1F8-5D23FD987EE0}"/>
                </a:ext>
              </a:extLst>
            </p:cNvPr>
            <p:cNvSpPr/>
            <p:nvPr/>
          </p:nvSpPr>
          <p:spPr>
            <a:xfrm>
              <a:off x="9486248" y="2307001"/>
              <a:ext cx="1012789" cy="36404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>
              <a:extLst>
                <a:ext uri="{FF2B5EF4-FFF2-40B4-BE49-F238E27FC236}">
                  <a16:creationId xmlns:a16="http://schemas.microsoft.com/office/drawing/2014/main" id="{4745D46E-753A-AB47-D764-B20C986BEF47}"/>
                </a:ext>
              </a:extLst>
            </p:cNvPr>
            <p:cNvSpPr/>
            <p:nvPr/>
          </p:nvSpPr>
          <p:spPr>
            <a:xfrm>
              <a:off x="9518226" y="2365180"/>
              <a:ext cx="965557" cy="26002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 policy for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online serving</a:t>
              </a:r>
              <a:endParaRPr lang="en-US" sz="7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BD99093-2F7C-D594-22ED-03E36348BD54}"/>
                </a:ext>
              </a:extLst>
            </p:cNvPr>
            <p:cNvGrpSpPr/>
            <p:nvPr/>
          </p:nvGrpSpPr>
          <p:grpSpPr>
            <a:xfrm>
              <a:off x="8556410" y="664684"/>
              <a:ext cx="1467242" cy="151137"/>
              <a:chOff x="1546361" y="3294766"/>
              <a:chExt cx="5038182" cy="143016"/>
            </a:xfrm>
          </p:grpSpPr>
          <p:sp>
            <p:nvSpPr>
              <p:cNvPr id="90" name="Shape 88">
                <a:extLst>
                  <a:ext uri="{FF2B5EF4-FFF2-40B4-BE49-F238E27FC236}">
                    <a16:creationId xmlns:a16="http://schemas.microsoft.com/office/drawing/2014/main" id="{FEA5980B-D277-CA37-8D42-BA2F0978E8C8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5038182" cy="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Shape 89">
                <a:extLst>
                  <a:ext uri="{FF2B5EF4-FFF2-40B4-BE49-F238E27FC236}">
                    <a16:creationId xmlns:a16="http://schemas.microsoft.com/office/drawing/2014/main" id="{71369C0D-D03F-E730-FDD0-9762F60FC5E1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Shape 90">
                <a:extLst>
                  <a:ext uri="{FF2B5EF4-FFF2-40B4-BE49-F238E27FC236}">
                    <a16:creationId xmlns:a16="http://schemas.microsoft.com/office/drawing/2014/main" id="{85E00EFC-2851-4953-556E-79971C501205}"/>
                  </a:ext>
                </a:extLst>
              </p:cNvPr>
              <p:cNvSpPr/>
              <p:nvPr/>
            </p:nvSpPr>
            <p:spPr>
              <a:xfrm>
                <a:off x="6584543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3" name="Text 91">
              <a:extLst>
                <a:ext uri="{FF2B5EF4-FFF2-40B4-BE49-F238E27FC236}">
                  <a16:creationId xmlns:a16="http://schemas.microsoft.com/office/drawing/2014/main" id="{1E40427B-317C-92ED-1C19-5CFDA4A2DE69}"/>
                </a:ext>
              </a:extLst>
            </p:cNvPr>
            <p:cNvSpPr/>
            <p:nvPr/>
          </p:nvSpPr>
          <p:spPr>
            <a:xfrm>
              <a:off x="8479484" y="479934"/>
              <a:ext cx="1544168" cy="19502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A4FA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Feedback (outcome, context)</a:t>
              </a:r>
              <a:endParaRPr lang="en-US" sz="800" dirty="0"/>
            </a:p>
          </p:txBody>
        </p:sp>
        <p:sp>
          <p:nvSpPr>
            <p:cNvPr id="94" name="Shape 87">
              <a:extLst>
                <a:ext uri="{FF2B5EF4-FFF2-40B4-BE49-F238E27FC236}">
                  <a16:creationId xmlns:a16="http://schemas.microsoft.com/office/drawing/2014/main" id="{12CF8E6F-D637-A7E0-7614-6A809DC74C5A}"/>
                </a:ext>
              </a:extLst>
            </p:cNvPr>
            <p:cNvSpPr/>
            <p:nvPr/>
          </p:nvSpPr>
          <p:spPr>
            <a:xfrm>
              <a:off x="7766319" y="1759119"/>
              <a:ext cx="19187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87">
              <a:extLst>
                <a:ext uri="{FF2B5EF4-FFF2-40B4-BE49-F238E27FC236}">
                  <a16:creationId xmlns:a16="http://schemas.microsoft.com/office/drawing/2014/main" id="{A8203B0C-BC25-576F-F3FA-A2EAE633AD10}"/>
                </a:ext>
              </a:extLst>
            </p:cNvPr>
            <p:cNvSpPr/>
            <p:nvPr/>
          </p:nvSpPr>
          <p:spPr>
            <a:xfrm>
              <a:off x="9182785" y="1790931"/>
              <a:ext cx="19187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951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241EC-10A5-510F-5228-0D98432F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E5291D1-3D6B-5188-1E08-47B2F7713B0D}"/>
              </a:ext>
            </a:extLst>
          </p:cNvPr>
          <p:cNvGrpSpPr/>
          <p:nvPr/>
        </p:nvGrpSpPr>
        <p:grpSpPr>
          <a:xfrm>
            <a:off x="116898" y="1582940"/>
            <a:ext cx="11919389" cy="3160170"/>
            <a:chOff x="116898" y="1582940"/>
            <a:chExt cx="11919389" cy="316017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6632E57-779B-8B02-E190-60EF0353E499}"/>
                </a:ext>
              </a:extLst>
            </p:cNvPr>
            <p:cNvGrpSpPr/>
            <p:nvPr/>
          </p:nvGrpSpPr>
          <p:grpSpPr>
            <a:xfrm>
              <a:off x="116898" y="1582940"/>
              <a:ext cx="8612636" cy="3160170"/>
              <a:chOff x="411309" y="264341"/>
              <a:chExt cx="11604527" cy="4257963"/>
            </a:xfrm>
          </p:grpSpPr>
          <p:sp>
            <p:nvSpPr>
              <p:cNvPr id="4" name="Shape 2">
                <a:extLst>
                  <a:ext uri="{FF2B5EF4-FFF2-40B4-BE49-F238E27FC236}">
                    <a16:creationId xmlns:a16="http://schemas.microsoft.com/office/drawing/2014/main" id="{D96F80EC-3875-E5F5-A495-DA8349128E55}"/>
                  </a:ext>
                </a:extLst>
              </p:cNvPr>
              <p:cNvSpPr/>
              <p:nvPr/>
            </p:nvSpPr>
            <p:spPr>
              <a:xfrm>
                <a:off x="411309" y="1421572"/>
                <a:ext cx="1755002" cy="2299678"/>
              </a:xfrm>
              <a:prstGeom prst="roundRect">
                <a:avLst>
                  <a:gd name="adj" fmla="val 4571"/>
                </a:avLst>
              </a:prstGeom>
              <a:solidFill>
                <a:srgbClr val="EBF2FC"/>
              </a:solidFill>
              <a:ln w="15875">
                <a:solidFill>
                  <a:srgbClr val="3B6FC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F3795D5B-BA48-5063-2A0A-17072504DF98}"/>
                  </a:ext>
                </a:extLst>
              </p:cNvPr>
              <p:cNvSpPr/>
              <p:nvPr/>
            </p:nvSpPr>
            <p:spPr>
              <a:xfrm>
                <a:off x="471488" y="1639125"/>
                <a:ext cx="1608859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3F8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Request</a:t>
                </a:r>
                <a:endParaRPr lang="en-US" sz="14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3F8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Ingestion</a:t>
                </a:r>
                <a:endParaRPr lang="en-US" sz="14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069327AB-9F86-915F-22D3-255BA72DEA18}"/>
                  </a:ext>
                </a:extLst>
              </p:cNvPr>
              <p:cNvSpPr/>
              <p:nvPr/>
            </p:nvSpPr>
            <p:spPr>
              <a:xfrm>
                <a:off x="471490" y="2288005"/>
                <a:ext cx="1632105" cy="1172233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9EBABD13-F53F-794F-AEC4-CD1D74642870}"/>
                  </a:ext>
                </a:extLst>
              </p:cNvPr>
              <p:cNvSpPr/>
              <p:nvPr/>
            </p:nvSpPr>
            <p:spPr>
              <a:xfrm>
                <a:off x="561738" y="2309289"/>
                <a:ext cx="1454144" cy="30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Request</a:t>
                </a:r>
                <a:endParaRPr lang="en-US" sz="13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037938E1-4130-36A9-77B5-AC4CA95F4384}"/>
                  </a:ext>
                </a:extLst>
              </p:cNvPr>
              <p:cNvSpPr/>
              <p:nvPr/>
            </p:nvSpPr>
            <p:spPr>
              <a:xfrm>
                <a:off x="471489" y="2671030"/>
                <a:ext cx="1632106" cy="7135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tokens, prompt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mode, arrival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metadata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A3FEF143-033F-0500-0EE9-BC6D0D28F89A}"/>
                  </a:ext>
                </a:extLst>
              </p:cNvPr>
              <p:cNvSpPr/>
              <p:nvPr/>
            </p:nvSpPr>
            <p:spPr>
              <a:xfrm>
                <a:off x="2467168" y="597871"/>
                <a:ext cx="2055859" cy="3924433"/>
              </a:xfrm>
              <a:prstGeom prst="roundRect">
                <a:avLst>
                  <a:gd name="adj" fmla="val 3902"/>
                </a:avLst>
              </a:prstGeom>
              <a:solidFill>
                <a:srgbClr val="EAF7EC"/>
              </a:solidFill>
              <a:ln w="15875">
                <a:solidFill>
                  <a:srgbClr val="3C8A4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7BC02ED5-3D63-BF0A-739A-23406A6A2996}"/>
                  </a:ext>
                </a:extLst>
              </p:cNvPr>
              <p:cNvSpPr/>
              <p:nvPr/>
            </p:nvSpPr>
            <p:spPr>
              <a:xfrm>
                <a:off x="2254820" y="724034"/>
                <a:ext cx="2421300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5C2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Candidate Discovery</a:t>
                </a:r>
                <a:endParaRPr lang="en-US" sz="14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15" name="Shape 13">
                <a:extLst>
                  <a:ext uri="{FF2B5EF4-FFF2-40B4-BE49-F238E27FC236}">
                    <a16:creationId xmlns:a16="http://schemas.microsoft.com/office/drawing/2014/main" id="{706CD4BA-1613-7AF9-D945-33B97B6C9B69}"/>
                  </a:ext>
                </a:extLst>
              </p:cNvPr>
              <p:cNvSpPr/>
              <p:nvPr/>
            </p:nvSpPr>
            <p:spPr>
              <a:xfrm>
                <a:off x="2534670" y="1351045"/>
                <a:ext cx="1921628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30719BF8-5591-D814-B5AB-C8B9E017FFC1}"/>
                  </a:ext>
                </a:extLst>
              </p:cNvPr>
              <p:cNvSpPr/>
              <p:nvPr/>
            </p:nvSpPr>
            <p:spPr>
              <a:xfrm>
                <a:off x="2667740" y="1464300"/>
                <a:ext cx="1654715" cy="28541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Exact-Prefix Index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EDD37C45-9C25-63A9-881D-948EEC9C7841}"/>
                  </a:ext>
                </a:extLst>
              </p:cNvPr>
              <p:cNvSpPr/>
              <p:nvPr/>
            </p:nvSpPr>
            <p:spPr>
              <a:xfrm>
                <a:off x="2667740" y="1778338"/>
                <a:ext cx="1654715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longest exact prefix matches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18" name="Shape 16">
                <a:extLst>
                  <a:ext uri="{FF2B5EF4-FFF2-40B4-BE49-F238E27FC236}">
                    <a16:creationId xmlns:a16="http://schemas.microsoft.com/office/drawing/2014/main" id="{CCE5C6B1-23B5-811D-7BCA-F75052358A83}"/>
                  </a:ext>
                </a:extLst>
              </p:cNvPr>
              <p:cNvSpPr/>
              <p:nvPr/>
            </p:nvSpPr>
            <p:spPr>
              <a:xfrm>
                <a:off x="2534670" y="2411152"/>
                <a:ext cx="1921628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025E3E69-4DE3-FDBC-58BF-27E69BCA392E}"/>
                  </a:ext>
                </a:extLst>
              </p:cNvPr>
              <p:cNvSpPr/>
              <p:nvPr/>
            </p:nvSpPr>
            <p:spPr>
              <a:xfrm>
                <a:off x="2617598" y="2554990"/>
                <a:ext cx="1734945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Semantic KV Index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1C4AC9AB-C2BA-6487-1B84-28654752235A}"/>
                  </a:ext>
                </a:extLst>
              </p:cNvPr>
              <p:cNvSpPr/>
              <p:nvPr/>
            </p:nvSpPr>
            <p:spPr>
              <a:xfrm>
                <a:off x="2667740" y="2847112"/>
                <a:ext cx="1654715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top-k similar prefixes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1" name="Shape 19">
                <a:extLst>
                  <a:ext uri="{FF2B5EF4-FFF2-40B4-BE49-F238E27FC236}">
                    <a16:creationId xmlns:a16="http://schemas.microsoft.com/office/drawing/2014/main" id="{976EFA55-0AEB-F2E0-EB83-7D323A79A226}"/>
                  </a:ext>
                </a:extLst>
              </p:cNvPr>
              <p:cNvSpPr/>
              <p:nvPr/>
            </p:nvSpPr>
            <p:spPr>
              <a:xfrm>
                <a:off x="2534670" y="3471258"/>
                <a:ext cx="1921628" cy="937787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D8D8D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6ED50F52-1B27-06A5-021D-AD450C53C951}"/>
                  </a:ext>
                </a:extLst>
              </p:cNvPr>
              <p:cNvSpPr/>
              <p:nvPr/>
            </p:nvSpPr>
            <p:spPr>
              <a:xfrm>
                <a:off x="2617598" y="3600091"/>
                <a:ext cx="1746048" cy="21349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Runtime Estimates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9B2C941C-F053-FFE7-2DF0-A4B4A28BAEFA}"/>
                  </a:ext>
                </a:extLst>
              </p:cNvPr>
              <p:cNvSpPr/>
              <p:nvPr/>
            </p:nvSpPr>
            <p:spPr>
              <a:xfrm>
                <a:off x="2486726" y="3899379"/>
                <a:ext cx="1999596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relevance, cost, risk (online statistics)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6D4C5DB2-1181-24E3-3025-2BBFCB8BC424}"/>
                  </a:ext>
                </a:extLst>
              </p:cNvPr>
              <p:cNvSpPr/>
              <p:nvPr/>
            </p:nvSpPr>
            <p:spPr>
              <a:xfrm>
                <a:off x="4823885" y="597871"/>
                <a:ext cx="4863863" cy="3924433"/>
              </a:xfrm>
              <a:prstGeom prst="roundRect">
                <a:avLst>
                  <a:gd name="adj" fmla="val 2078"/>
                </a:avLst>
              </a:prstGeom>
              <a:solidFill>
                <a:srgbClr val="F3EFFB"/>
              </a:solidFill>
              <a:ln w="19050">
                <a:solidFill>
                  <a:srgbClr val="8B6FC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C189A161-5A57-CA87-7336-866482E55CEE}"/>
                  </a:ext>
                </a:extLst>
              </p:cNvPr>
              <p:cNvSpPr/>
              <p:nvPr/>
            </p:nvSpPr>
            <p:spPr>
              <a:xfrm>
                <a:off x="4823885" y="720191"/>
                <a:ext cx="4863863" cy="3567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5B3E9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Utility Controller</a:t>
                </a:r>
                <a:endParaRPr lang="en-US" sz="14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8" name="Text 26">
                <a:extLst>
                  <a:ext uri="{FF2B5EF4-FFF2-40B4-BE49-F238E27FC236}">
                    <a16:creationId xmlns:a16="http://schemas.microsoft.com/office/drawing/2014/main" id="{A1033B8F-DC2E-4920-A159-A241F0D7C383}"/>
                  </a:ext>
                </a:extLst>
              </p:cNvPr>
              <p:cNvSpPr/>
              <p:nvPr/>
            </p:nvSpPr>
            <p:spPr>
              <a:xfrm>
                <a:off x="4823885" y="1178889"/>
                <a:ext cx="4863863" cy="21405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555555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Evaluate candidates and decide reuse</a:t>
                </a:r>
                <a:endParaRPr lang="en-US" sz="13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29" name="Shape 27">
                <a:extLst>
                  <a:ext uri="{FF2B5EF4-FFF2-40B4-BE49-F238E27FC236}">
                    <a16:creationId xmlns:a16="http://schemas.microsoft.com/office/drawing/2014/main" id="{52F4964B-99D4-4FB6-96CF-83A4B64936C8}"/>
                  </a:ext>
                </a:extLst>
              </p:cNvPr>
              <p:cNvSpPr/>
              <p:nvPr/>
            </p:nvSpPr>
            <p:spPr>
              <a:xfrm>
                <a:off x="4890905" y="1515271"/>
                <a:ext cx="2342281" cy="2205980"/>
              </a:xfrm>
              <a:prstGeom prst="roundRect">
                <a:avLst>
                  <a:gd name="adj" fmla="val 3902"/>
                </a:avLst>
              </a:prstGeom>
              <a:solidFill>
                <a:srgbClr val="FAF8FE"/>
              </a:solidFill>
              <a:ln w="12700">
                <a:solidFill>
                  <a:srgbClr val="D8CC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 28">
                <a:extLst>
                  <a:ext uri="{FF2B5EF4-FFF2-40B4-BE49-F238E27FC236}">
                    <a16:creationId xmlns:a16="http://schemas.microsoft.com/office/drawing/2014/main" id="{F9798A16-25D7-9166-9DAC-0D4F149699C7}"/>
                  </a:ext>
                </a:extLst>
              </p:cNvPr>
              <p:cNvSpPr/>
              <p:nvPr/>
            </p:nvSpPr>
            <p:spPr>
              <a:xfrm>
                <a:off x="4807034" y="1576515"/>
                <a:ext cx="2585200" cy="2895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5B3E9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Exact-Prefix Branch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31" name="Text 29">
                <a:extLst>
                  <a:ext uri="{FF2B5EF4-FFF2-40B4-BE49-F238E27FC236}">
                    <a16:creationId xmlns:a16="http://schemas.microsoft.com/office/drawing/2014/main" id="{6F8D3313-FB70-B5FD-9751-53F684B89DD6}"/>
                  </a:ext>
                </a:extLst>
              </p:cNvPr>
              <p:cNvSpPr/>
              <p:nvPr/>
            </p:nvSpPr>
            <p:spPr>
              <a:xfrm>
                <a:off x="4974314" y="1841457"/>
                <a:ext cx="2206288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i="1" dirty="0">
                    <a:solidFill>
                      <a:srgbClr val="66666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(exact match found)</a:t>
                </a:r>
                <a:endParaRPr lang="en-US" sz="10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32" name="Shape 30">
                <a:extLst>
                  <a:ext uri="{FF2B5EF4-FFF2-40B4-BE49-F238E27FC236}">
                    <a16:creationId xmlns:a16="http://schemas.microsoft.com/office/drawing/2014/main" id="{1A004CF9-BA12-1E87-C14C-E1E778DD2531}"/>
                  </a:ext>
                </a:extLst>
              </p:cNvPr>
              <p:cNvSpPr/>
              <p:nvPr/>
            </p:nvSpPr>
            <p:spPr>
              <a:xfrm>
                <a:off x="5094657" y="2147257"/>
                <a:ext cx="1965602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 31">
                <a:extLst>
                  <a:ext uri="{FF2B5EF4-FFF2-40B4-BE49-F238E27FC236}">
                    <a16:creationId xmlns:a16="http://schemas.microsoft.com/office/drawing/2014/main" id="{DF1FB58D-BA7E-8634-BA59-8966E1FDFD5E}"/>
                  </a:ext>
                </a:extLst>
              </p:cNvPr>
              <p:cNvSpPr/>
              <p:nvPr/>
            </p:nvSpPr>
            <p:spPr>
              <a:xfrm>
                <a:off x="5124743" y="2137429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Score candidate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34" name="Shape 32">
                <a:extLst>
                  <a:ext uri="{FF2B5EF4-FFF2-40B4-BE49-F238E27FC236}">
                    <a16:creationId xmlns:a16="http://schemas.microsoft.com/office/drawing/2014/main" id="{C36F21A8-D2DE-5252-7ADA-2E409B26FE80}"/>
                  </a:ext>
                </a:extLst>
              </p:cNvPr>
              <p:cNvSpPr/>
              <p:nvPr/>
            </p:nvSpPr>
            <p:spPr>
              <a:xfrm>
                <a:off x="5094656" y="2616151"/>
                <a:ext cx="1965601" cy="563429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4ECB0D7B-DE96-8850-2927-A1AED6CED206}"/>
                  </a:ext>
                </a:extLst>
              </p:cNvPr>
              <p:cNvSpPr/>
              <p:nvPr/>
            </p:nvSpPr>
            <p:spPr>
              <a:xfrm>
                <a:off x="5124743" y="2708830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Check usefulness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(benefit vs. cost)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36" name="Shape 34">
                <a:extLst>
                  <a:ext uri="{FF2B5EF4-FFF2-40B4-BE49-F238E27FC236}">
                    <a16:creationId xmlns:a16="http://schemas.microsoft.com/office/drawing/2014/main" id="{6B0D1786-D90E-AC2D-DC00-385291BAB147}"/>
                  </a:ext>
                </a:extLst>
              </p:cNvPr>
              <p:cNvSpPr/>
              <p:nvPr/>
            </p:nvSpPr>
            <p:spPr>
              <a:xfrm>
                <a:off x="5094656" y="3231560"/>
                <a:ext cx="1965601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D60FFA92-43C0-B771-1DC0-3A057B03444F}"/>
                  </a:ext>
                </a:extLst>
              </p:cNvPr>
              <p:cNvSpPr/>
              <p:nvPr/>
            </p:nvSpPr>
            <p:spPr>
              <a:xfrm>
                <a:off x="5124743" y="3251946"/>
                <a:ext cx="1905431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Reuse if useful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38" name="Shape 36">
                <a:extLst>
                  <a:ext uri="{FF2B5EF4-FFF2-40B4-BE49-F238E27FC236}">
                    <a16:creationId xmlns:a16="http://schemas.microsoft.com/office/drawing/2014/main" id="{C17C3F35-33C0-0A32-6D4A-CE539259BE05}"/>
                  </a:ext>
                </a:extLst>
              </p:cNvPr>
              <p:cNvSpPr/>
              <p:nvPr/>
            </p:nvSpPr>
            <p:spPr>
              <a:xfrm>
                <a:off x="7279806" y="1515269"/>
                <a:ext cx="2336286" cy="2205973"/>
              </a:xfrm>
              <a:prstGeom prst="roundRect">
                <a:avLst>
                  <a:gd name="adj" fmla="val 3902"/>
                </a:avLst>
              </a:prstGeom>
              <a:solidFill>
                <a:srgbClr val="FAF8FE"/>
              </a:solidFill>
              <a:ln w="12700">
                <a:solidFill>
                  <a:srgbClr val="D8CCE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Text 37">
                <a:extLst>
                  <a:ext uri="{FF2B5EF4-FFF2-40B4-BE49-F238E27FC236}">
                    <a16:creationId xmlns:a16="http://schemas.microsoft.com/office/drawing/2014/main" id="{F91102B7-0113-99AA-7F53-954D40C8AB94}"/>
                  </a:ext>
                </a:extLst>
              </p:cNvPr>
              <p:cNvSpPr/>
              <p:nvPr/>
            </p:nvSpPr>
            <p:spPr>
              <a:xfrm>
                <a:off x="7331031" y="1596817"/>
                <a:ext cx="2283271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5B3E9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Semantic Branch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0" name="Text 38">
                <a:extLst>
                  <a:ext uri="{FF2B5EF4-FFF2-40B4-BE49-F238E27FC236}">
                    <a16:creationId xmlns:a16="http://schemas.microsoft.com/office/drawing/2014/main" id="{7B8A07F3-50A0-6B11-46D0-A65317AAB2CD}"/>
                  </a:ext>
                </a:extLst>
              </p:cNvPr>
              <p:cNvSpPr/>
              <p:nvPr/>
            </p:nvSpPr>
            <p:spPr>
              <a:xfrm>
                <a:off x="7331031" y="1841457"/>
                <a:ext cx="2283271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i="1" dirty="0">
                    <a:solidFill>
                      <a:srgbClr val="66666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(no exact match)</a:t>
                </a:r>
                <a:endParaRPr lang="en-US" sz="10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1" name="Shape 39">
                <a:extLst>
                  <a:ext uri="{FF2B5EF4-FFF2-40B4-BE49-F238E27FC236}">
                    <a16:creationId xmlns:a16="http://schemas.microsoft.com/office/drawing/2014/main" id="{ADA36E2B-BD89-BE5F-C198-DD016A4E67A2}"/>
                  </a:ext>
                </a:extLst>
              </p:cNvPr>
              <p:cNvSpPr/>
              <p:nvPr/>
            </p:nvSpPr>
            <p:spPr>
              <a:xfrm>
                <a:off x="7451374" y="2147257"/>
                <a:ext cx="2034186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 40">
                <a:extLst>
                  <a:ext uri="{FF2B5EF4-FFF2-40B4-BE49-F238E27FC236}">
                    <a16:creationId xmlns:a16="http://schemas.microsoft.com/office/drawing/2014/main" id="{E7151ABF-C80F-FD7A-B235-BDB2A135F228}"/>
                  </a:ext>
                </a:extLst>
              </p:cNvPr>
              <p:cNvSpPr/>
              <p:nvPr/>
            </p:nvSpPr>
            <p:spPr>
              <a:xfrm>
                <a:off x="7481459" y="2172434"/>
                <a:ext cx="1971917" cy="32505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Score candidate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3" name="Shape 41">
                <a:extLst>
                  <a:ext uri="{FF2B5EF4-FFF2-40B4-BE49-F238E27FC236}">
                    <a16:creationId xmlns:a16="http://schemas.microsoft.com/office/drawing/2014/main" id="{D4E8CEC0-F356-001A-8B06-FF3E770457EA}"/>
                  </a:ext>
                </a:extLst>
              </p:cNvPr>
              <p:cNvSpPr/>
              <p:nvPr/>
            </p:nvSpPr>
            <p:spPr>
              <a:xfrm>
                <a:off x="7451374" y="2616151"/>
                <a:ext cx="2034186" cy="563429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42">
                <a:extLst>
                  <a:ext uri="{FF2B5EF4-FFF2-40B4-BE49-F238E27FC236}">
                    <a16:creationId xmlns:a16="http://schemas.microsoft.com/office/drawing/2014/main" id="{263E108E-1B63-92FA-19C6-414B3E87965A}"/>
                  </a:ext>
                </a:extLst>
              </p:cNvPr>
              <p:cNvSpPr/>
              <p:nvPr/>
            </p:nvSpPr>
            <p:spPr>
              <a:xfrm>
                <a:off x="7392234" y="2705412"/>
                <a:ext cx="2095389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Guard for reliability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(similarity &amp; risk)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5" name="Shape 43">
                <a:extLst>
                  <a:ext uri="{FF2B5EF4-FFF2-40B4-BE49-F238E27FC236}">
                    <a16:creationId xmlns:a16="http://schemas.microsoft.com/office/drawing/2014/main" id="{3765B450-4AAA-6628-1B96-668AF4240030}"/>
                  </a:ext>
                </a:extLst>
              </p:cNvPr>
              <p:cNvSpPr/>
              <p:nvPr/>
            </p:nvSpPr>
            <p:spPr>
              <a:xfrm>
                <a:off x="7451374" y="3231560"/>
                <a:ext cx="2034186" cy="407733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D5F2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44">
                <a:extLst>
                  <a:ext uri="{FF2B5EF4-FFF2-40B4-BE49-F238E27FC236}">
                    <a16:creationId xmlns:a16="http://schemas.microsoft.com/office/drawing/2014/main" id="{25AE77BA-9A3D-B3D6-77D3-0ADEDF8AB668}"/>
                  </a:ext>
                </a:extLst>
              </p:cNvPr>
              <p:cNvSpPr/>
              <p:nvPr/>
            </p:nvSpPr>
            <p:spPr>
              <a:xfrm>
                <a:off x="7344351" y="3251946"/>
                <a:ext cx="2241568" cy="366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1A1A1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Reuse if safe &amp; useful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7" name="Shape 45">
                <a:extLst>
                  <a:ext uri="{FF2B5EF4-FFF2-40B4-BE49-F238E27FC236}">
                    <a16:creationId xmlns:a16="http://schemas.microsoft.com/office/drawing/2014/main" id="{2907F622-FA89-0B22-4B7C-7139E1D5C21A}"/>
                  </a:ext>
                </a:extLst>
              </p:cNvPr>
              <p:cNvSpPr/>
              <p:nvPr/>
            </p:nvSpPr>
            <p:spPr>
              <a:xfrm>
                <a:off x="4974313" y="3833373"/>
                <a:ext cx="4563004" cy="560633"/>
              </a:xfrm>
              <a:prstGeom prst="roundRect">
                <a:avLst>
                  <a:gd name="adj" fmla="val 14545"/>
                </a:avLst>
              </a:prstGeom>
              <a:solidFill>
                <a:srgbClr val="EAE1F7"/>
              </a:solidFill>
              <a:ln w="12700">
                <a:solidFill>
                  <a:srgbClr val="C9B3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 46">
                <a:extLst>
                  <a:ext uri="{FF2B5EF4-FFF2-40B4-BE49-F238E27FC236}">
                    <a16:creationId xmlns:a16="http://schemas.microsoft.com/office/drawing/2014/main" id="{94D8B809-A6DF-5587-E02A-D32722738E99}"/>
                  </a:ext>
                </a:extLst>
              </p:cNvPr>
              <p:cNvSpPr/>
              <p:nvPr/>
            </p:nvSpPr>
            <p:spPr>
              <a:xfrm>
                <a:off x="4974313" y="3874145"/>
                <a:ext cx="4563004" cy="244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5B3E9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Risk-Averse Extension</a:t>
                </a:r>
                <a:endParaRPr lang="en-US" sz="12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49" name="Text 47">
                <a:extLst>
                  <a:ext uri="{FF2B5EF4-FFF2-40B4-BE49-F238E27FC236}">
                    <a16:creationId xmlns:a16="http://schemas.microsoft.com/office/drawing/2014/main" id="{1BFBE267-D608-69BC-63A3-5BEB70C4E5EB}"/>
                  </a:ext>
                </a:extLst>
              </p:cNvPr>
              <p:cNvSpPr/>
              <p:nvPr/>
            </p:nvSpPr>
            <p:spPr>
              <a:xfrm>
                <a:off x="4974313" y="4108592"/>
                <a:ext cx="4563004" cy="224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555555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Penalize high-risk reuse (misleading matches)</a:t>
                </a:r>
                <a:endParaRPr lang="en-US" sz="10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50" name="Shape 48">
                <a:extLst>
                  <a:ext uri="{FF2B5EF4-FFF2-40B4-BE49-F238E27FC236}">
                    <a16:creationId xmlns:a16="http://schemas.microsoft.com/office/drawing/2014/main" id="{20A9F1A1-078D-7FC5-9E3B-D5509DDB1D1B}"/>
                  </a:ext>
                </a:extLst>
              </p:cNvPr>
              <p:cNvSpPr/>
              <p:nvPr/>
            </p:nvSpPr>
            <p:spPr>
              <a:xfrm>
                <a:off x="10038748" y="989131"/>
                <a:ext cx="1905431" cy="3240346"/>
              </a:xfrm>
              <a:prstGeom prst="roundRect">
                <a:avLst>
                  <a:gd name="adj" fmla="val 4211"/>
                </a:avLst>
              </a:prstGeom>
              <a:solidFill>
                <a:srgbClr val="EBF2FC"/>
              </a:solidFill>
              <a:ln w="15875">
                <a:solidFill>
                  <a:srgbClr val="3B6FC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 51">
                <a:extLst>
                  <a:ext uri="{FF2B5EF4-FFF2-40B4-BE49-F238E27FC236}">
                    <a16:creationId xmlns:a16="http://schemas.microsoft.com/office/drawing/2014/main" id="{EADDC89C-4023-6DB3-8E5A-53E4FBBEF794}"/>
                  </a:ext>
                </a:extLst>
              </p:cNvPr>
              <p:cNvSpPr/>
              <p:nvPr/>
            </p:nvSpPr>
            <p:spPr>
              <a:xfrm>
                <a:off x="9968701" y="1052471"/>
                <a:ext cx="2047135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3F8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Reuse</a:t>
                </a:r>
                <a:r>
                  <a:rPr lang="en-US" sz="1400" dirty="0">
                    <a:latin typeface="Century Schoolbook" panose="02040604050505020304" pitchFamily="18" charset="0"/>
                  </a:rPr>
                  <a:t> </a:t>
                </a:r>
                <a:r>
                  <a:rPr lang="en-US" sz="1400" b="1" dirty="0">
                    <a:solidFill>
                      <a:srgbClr val="1F3F86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Decision</a:t>
                </a:r>
                <a:endParaRPr lang="en-US" sz="14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54" name="Shape 52">
                <a:extLst>
                  <a:ext uri="{FF2B5EF4-FFF2-40B4-BE49-F238E27FC236}">
                    <a16:creationId xmlns:a16="http://schemas.microsoft.com/office/drawing/2014/main" id="{E1ADA680-52CC-4504-E093-1997C16BDCC2}"/>
                  </a:ext>
                </a:extLst>
              </p:cNvPr>
              <p:cNvSpPr/>
              <p:nvPr/>
            </p:nvSpPr>
            <p:spPr>
              <a:xfrm>
                <a:off x="10110185" y="1906531"/>
                <a:ext cx="1779339" cy="968366"/>
              </a:xfrm>
              <a:prstGeom prst="roundRect">
                <a:avLst>
                  <a:gd name="adj" fmla="val 8421"/>
                </a:avLst>
              </a:prstGeom>
              <a:solidFill>
                <a:srgbClr val="EAF7EC"/>
              </a:solidFill>
              <a:ln w="12700">
                <a:solidFill>
                  <a:srgbClr val="3C8A4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Text 53">
                <a:extLst>
                  <a:ext uri="{FF2B5EF4-FFF2-40B4-BE49-F238E27FC236}">
                    <a16:creationId xmlns:a16="http://schemas.microsoft.com/office/drawing/2014/main" id="{5DD549D5-AA58-C9CE-6CD1-D21D99AA0605}"/>
                  </a:ext>
                </a:extLst>
              </p:cNvPr>
              <p:cNvSpPr/>
              <p:nvPr/>
            </p:nvSpPr>
            <p:spPr>
              <a:xfrm>
                <a:off x="10189177" y="2008464"/>
                <a:ext cx="1604573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F5C2E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Reuse</a:t>
                </a:r>
                <a:endParaRPr lang="en-US" sz="105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56" name="Text 54">
                <a:extLst>
                  <a:ext uri="{FF2B5EF4-FFF2-40B4-BE49-F238E27FC236}">
                    <a16:creationId xmlns:a16="http://schemas.microsoft.com/office/drawing/2014/main" id="{8C21C2F1-83A8-5CD2-623E-2C8733FAF320}"/>
                  </a:ext>
                </a:extLst>
              </p:cNvPr>
              <p:cNvSpPr/>
              <p:nvPr/>
            </p:nvSpPr>
            <p:spPr>
              <a:xfrm>
                <a:off x="10038748" y="2293878"/>
                <a:ext cx="1921628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Return cached KV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(exact or semantic)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57" name="Shape 55">
                <a:extLst>
                  <a:ext uri="{FF2B5EF4-FFF2-40B4-BE49-F238E27FC236}">
                    <a16:creationId xmlns:a16="http://schemas.microsoft.com/office/drawing/2014/main" id="{5B439191-4D94-B328-62EF-0A875EB8215A}"/>
                  </a:ext>
                </a:extLst>
              </p:cNvPr>
              <p:cNvSpPr/>
              <p:nvPr/>
            </p:nvSpPr>
            <p:spPr>
              <a:xfrm>
                <a:off x="10110185" y="3027797"/>
                <a:ext cx="1779339" cy="968366"/>
              </a:xfrm>
              <a:prstGeom prst="roundRect">
                <a:avLst>
                  <a:gd name="adj" fmla="val 8421"/>
                </a:avLst>
              </a:prstGeom>
              <a:solidFill>
                <a:srgbClr val="FCEDED"/>
              </a:solidFill>
              <a:ln w="12700">
                <a:solidFill>
                  <a:srgbClr val="C96A6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 56">
                <a:extLst>
                  <a:ext uri="{FF2B5EF4-FFF2-40B4-BE49-F238E27FC236}">
                    <a16:creationId xmlns:a16="http://schemas.microsoft.com/office/drawing/2014/main" id="{3A094637-5D17-8E72-83BF-7ED0AB717CA6}"/>
                  </a:ext>
                </a:extLst>
              </p:cNvPr>
              <p:cNvSpPr/>
              <p:nvPr/>
            </p:nvSpPr>
            <p:spPr>
              <a:xfrm>
                <a:off x="10189177" y="3129731"/>
                <a:ext cx="1604573" cy="25483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9E3A3A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Bypass</a:t>
                </a:r>
                <a:endParaRPr lang="en-US" sz="105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59" name="Text 57">
                <a:extLst>
                  <a:ext uri="{FF2B5EF4-FFF2-40B4-BE49-F238E27FC236}">
                    <a16:creationId xmlns:a16="http://schemas.microsoft.com/office/drawing/2014/main" id="{48A9129C-8A8E-903C-A44D-3A40D9DAC735}"/>
                  </a:ext>
                </a:extLst>
              </p:cNvPr>
              <p:cNvSpPr/>
              <p:nvPr/>
            </p:nvSpPr>
            <p:spPr>
              <a:xfrm>
                <a:off x="10037914" y="3415144"/>
                <a:ext cx="1921628" cy="50966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No reuse,</a:t>
                </a:r>
                <a:endParaRPr lang="en-US" sz="1100" dirty="0">
                  <a:latin typeface="Century Schoolbook" panose="020406040505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444444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compute normally</a:t>
                </a:r>
                <a:endParaRPr lang="en-US" sz="1100" dirty="0">
                  <a:latin typeface="Century Schoolbook" panose="02040604050505020304" pitchFamily="18" charset="0"/>
                </a:endParaRPr>
              </a:p>
            </p:txBody>
          </p:sp>
          <p:sp>
            <p:nvSpPr>
              <p:cNvPr id="60" name="Shape 58">
                <a:extLst>
                  <a:ext uri="{FF2B5EF4-FFF2-40B4-BE49-F238E27FC236}">
                    <a16:creationId xmlns:a16="http://schemas.microsoft.com/office/drawing/2014/main" id="{00B51BFD-3C84-4896-E1F8-95408159EFA3}"/>
                  </a:ext>
                </a:extLst>
              </p:cNvPr>
              <p:cNvSpPr/>
              <p:nvPr/>
            </p:nvSpPr>
            <p:spPr>
              <a:xfrm>
                <a:off x="2166311" y="2560087"/>
                <a:ext cx="300857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Shape 59">
                <a:extLst>
                  <a:ext uri="{FF2B5EF4-FFF2-40B4-BE49-F238E27FC236}">
                    <a16:creationId xmlns:a16="http://schemas.microsoft.com/office/drawing/2014/main" id="{FEF799B9-3C93-286F-115E-D1A6F7712C64}"/>
                  </a:ext>
                </a:extLst>
              </p:cNvPr>
              <p:cNvSpPr/>
              <p:nvPr/>
            </p:nvSpPr>
            <p:spPr>
              <a:xfrm>
                <a:off x="4523028" y="2560087"/>
                <a:ext cx="300857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60">
                <a:extLst>
                  <a:ext uri="{FF2B5EF4-FFF2-40B4-BE49-F238E27FC236}">
                    <a16:creationId xmlns:a16="http://schemas.microsoft.com/office/drawing/2014/main" id="{324D954B-ABAD-6458-B355-3D0779B09227}"/>
                  </a:ext>
                </a:extLst>
              </p:cNvPr>
              <p:cNvSpPr/>
              <p:nvPr/>
            </p:nvSpPr>
            <p:spPr>
              <a:xfrm>
                <a:off x="9687748" y="2560087"/>
                <a:ext cx="351000" cy="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Shape 61">
                <a:extLst>
                  <a:ext uri="{FF2B5EF4-FFF2-40B4-BE49-F238E27FC236}">
                    <a16:creationId xmlns:a16="http://schemas.microsoft.com/office/drawing/2014/main" id="{393CBA1A-7733-C755-FBA7-55B71A864219}"/>
                  </a:ext>
                </a:extLst>
              </p:cNvPr>
              <p:cNvSpPr/>
              <p:nvPr/>
            </p:nvSpPr>
            <p:spPr>
              <a:xfrm>
                <a:off x="10705649" y="322650"/>
                <a:ext cx="0" cy="66648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Shape 62">
                <a:extLst>
                  <a:ext uri="{FF2B5EF4-FFF2-40B4-BE49-F238E27FC236}">
                    <a16:creationId xmlns:a16="http://schemas.microsoft.com/office/drawing/2014/main" id="{7FCF5C55-BE4E-C5E2-4AD2-CF4B7F870F9A}"/>
                  </a:ext>
                </a:extLst>
              </p:cNvPr>
              <p:cNvSpPr/>
              <p:nvPr/>
            </p:nvSpPr>
            <p:spPr>
              <a:xfrm>
                <a:off x="7499010" y="322651"/>
                <a:ext cx="3206639" cy="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Shape 63">
                <a:extLst>
                  <a:ext uri="{FF2B5EF4-FFF2-40B4-BE49-F238E27FC236}">
                    <a16:creationId xmlns:a16="http://schemas.microsoft.com/office/drawing/2014/main" id="{91C74CE8-60A8-0BE9-D7A9-C545B91F09CC}"/>
                  </a:ext>
                </a:extLst>
              </p:cNvPr>
              <p:cNvSpPr/>
              <p:nvPr/>
            </p:nvSpPr>
            <p:spPr>
              <a:xfrm>
                <a:off x="7499010" y="322651"/>
                <a:ext cx="0" cy="27522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 64">
                <a:extLst>
                  <a:ext uri="{FF2B5EF4-FFF2-40B4-BE49-F238E27FC236}">
                    <a16:creationId xmlns:a16="http://schemas.microsoft.com/office/drawing/2014/main" id="{4BAEAF7B-C3E0-4D63-40DD-13B8F183508D}"/>
                  </a:ext>
                </a:extLst>
              </p:cNvPr>
              <p:cNvSpPr/>
              <p:nvPr/>
            </p:nvSpPr>
            <p:spPr>
              <a:xfrm>
                <a:off x="6897294" y="264341"/>
                <a:ext cx="4410070" cy="30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6A4FA0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Observed hit / </a:t>
                </a:r>
                <a:r>
                  <a:rPr lang="en-US" sz="1100" dirty="0">
                    <a:solidFill>
                      <a:srgbClr val="6A4FA0"/>
                    </a:solidFill>
                    <a:latin typeface="Century Schoolbook" panose="02040604050505020304" pitchFamily="18" charset="0"/>
                    <a:ea typeface="Arial" pitchFamily="34" charset="-122"/>
                    <a:cs typeface="Arial" pitchFamily="34" charset="-120"/>
                  </a:rPr>
                  <a:t>waste</a:t>
                </a:r>
                <a:endParaRPr lang="en-US" sz="1000" dirty="0">
                  <a:latin typeface="Century Schoolbook" panose="02040604050505020304" pitchFamily="18" charset="0"/>
                </a:endParaRPr>
              </a:p>
            </p:txBody>
          </p:sp>
        </p:grp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7CA4070E-311F-A5C2-4449-F000F3B07770}"/>
                </a:ext>
              </a:extLst>
            </p:cNvPr>
            <p:cNvSpPr/>
            <p:nvPr/>
          </p:nvSpPr>
          <p:spPr>
            <a:xfrm>
              <a:off x="8898584" y="2040506"/>
              <a:ext cx="1426192" cy="2507245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>
              <a:extLst>
                <a:ext uri="{FF2B5EF4-FFF2-40B4-BE49-F238E27FC236}">
                  <a16:creationId xmlns:a16="http://schemas.microsoft.com/office/drawing/2014/main" id="{8E665524-BD09-C510-400B-06AC83C5CC3D}"/>
                </a:ext>
              </a:extLst>
            </p:cNvPr>
            <p:cNvSpPr/>
            <p:nvPr/>
          </p:nvSpPr>
          <p:spPr>
            <a:xfrm>
              <a:off x="8967664" y="2194446"/>
              <a:ext cx="253063" cy="2572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D0C410C5-67E4-D192-DA9D-65FC9BB35D05}"/>
                </a:ext>
              </a:extLst>
            </p:cNvPr>
            <p:cNvSpPr/>
            <p:nvPr/>
          </p:nvSpPr>
          <p:spPr>
            <a:xfrm>
              <a:off x="8845997" y="2182420"/>
              <a:ext cx="1519343" cy="21182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Calibration &amp; Thresholding</a:t>
              </a:r>
              <a:endParaRPr lang="en-US" sz="14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1" name="Text 69">
              <a:extLst>
                <a:ext uri="{FF2B5EF4-FFF2-40B4-BE49-F238E27FC236}">
                  <a16:creationId xmlns:a16="http://schemas.microsoft.com/office/drawing/2014/main" id="{43458E4B-DEDA-080A-A230-3EE016CA0DAB}"/>
                </a:ext>
              </a:extLst>
            </p:cNvPr>
            <p:cNvSpPr/>
            <p:nvPr/>
          </p:nvSpPr>
          <p:spPr>
            <a:xfrm>
              <a:off x="8917079" y="2531471"/>
              <a:ext cx="1519342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555555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Set decision thresholds to balance benefit, cost, and risk using empirical data.</a:t>
              </a:r>
              <a:endParaRPr lang="en-US" sz="8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2" name="Shape 70">
              <a:extLst>
                <a:ext uri="{FF2B5EF4-FFF2-40B4-BE49-F238E27FC236}">
                  <a16:creationId xmlns:a16="http://schemas.microsoft.com/office/drawing/2014/main" id="{8E1092C7-198E-AD2B-7B0B-CE50EECEF18C}"/>
                </a:ext>
              </a:extLst>
            </p:cNvPr>
            <p:cNvSpPr/>
            <p:nvPr/>
          </p:nvSpPr>
          <p:spPr>
            <a:xfrm>
              <a:off x="8936857" y="2924843"/>
              <a:ext cx="1336448" cy="478124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Text 71">
              <a:extLst>
                <a:ext uri="{FF2B5EF4-FFF2-40B4-BE49-F238E27FC236}">
                  <a16:creationId xmlns:a16="http://schemas.microsoft.com/office/drawing/2014/main" id="{C4C90407-7D74-C022-5142-8D71598478B0}"/>
                </a:ext>
              </a:extLst>
            </p:cNvPr>
            <p:cNvSpPr/>
            <p:nvPr/>
          </p:nvSpPr>
          <p:spPr>
            <a:xfrm>
              <a:off x="8897202" y="3025414"/>
              <a:ext cx="1397252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Learn thresholds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(breakeven points)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4" name="Shape 72">
              <a:extLst>
                <a:ext uri="{FF2B5EF4-FFF2-40B4-BE49-F238E27FC236}">
                  <a16:creationId xmlns:a16="http://schemas.microsoft.com/office/drawing/2014/main" id="{8AF3C8C4-2BC9-C2B9-B188-760F69471A60}"/>
                </a:ext>
              </a:extLst>
            </p:cNvPr>
            <p:cNvSpPr/>
            <p:nvPr/>
          </p:nvSpPr>
          <p:spPr>
            <a:xfrm>
              <a:off x="8942205" y="3431897"/>
              <a:ext cx="1336448" cy="51097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A9E1A505-91BC-55AD-2D34-547EEE295E6E}"/>
                </a:ext>
              </a:extLst>
            </p:cNvPr>
            <p:cNvSpPr/>
            <p:nvPr/>
          </p:nvSpPr>
          <p:spPr>
            <a:xfrm>
              <a:off x="8900041" y="3555309"/>
              <a:ext cx="1391569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Adapt to workload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characteristics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6" name="Shape 74">
              <a:extLst>
                <a:ext uri="{FF2B5EF4-FFF2-40B4-BE49-F238E27FC236}">
                  <a16:creationId xmlns:a16="http://schemas.microsoft.com/office/drawing/2014/main" id="{E66C8A38-2344-3AC9-0283-BE6AA40E95EF}"/>
                </a:ext>
              </a:extLst>
            </p:cNvPr>
            <p:cNvSpPr/>
            <p:nvPr/>
          </p:nvSpPr>
          <p:spPr>
            <a:xfrm>
              <a:off x="8942205" y="3963633"/>
              <a:ext cx="1336448" cy="53286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75">
              <a:extLst>
                <a:ext uri="{FF2B5EF4-FFF2-40B4-BE49-F238E27FC236}">
                  <a16:creationId xmlns:a16="http://schemas.microsoft.com/office/drawing/2014/main" id="{096D3AC9-46F9-9D63-BC60-31BC9A44DD9E}"/>
                </a:ext>
              </a:extLst>
            </p:cNvPr>
            <p:cNvSpPr/>
            <p:nvPr/>
          </p:nvSpPr>
          <p:spPr>
            <a:xfrm>
              <a:off x="8917079" y="4073175"/>
              <a:ext cx="1391569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Control precision–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recall trade-off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8ED37444-9652-4C6B-1E20-B8945B3DEA44}"/>
                </a:ext>
              </a:extLst>
            </p:cNvPr>
            <p:cNvSpPr/>
            <p:nvPr/>
          </p:nvSpPr>
          <p:spPr>
            <a:xfrm>
              <a:off x="10557700" y="2040506"/>
              <a:ext cx="1426192" cy="2507245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79">
              <a:extLst>
                <a:ext uri="{FF2B5EF4-FFF2-40B4-BE49-F238E27FC236}">
                  <a16:creationId xmlns:a16="http://schemas.microsoft.com/office/drawing/2014/main" id="{FAD4754D-15BF-0608-BAE7-2A8A8A6113D3}"/>
                </a:ext>
              </a:extLst>
            </p:cNvPr>
            <p:cNvSpPr/>
            <p:nvPr/>
          </p:nvSpPr>
          <p:spPr>
            <a:xfrm>
              <a:off x="10500433" y="2092823"/>
              <a:ext cx="1483458" cy="3305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Offline Policy Learner</a:t>
              </a:r>
              <a:endParaRPr lang="en-US" sz="1400" dirty="0">
                <a:latin typeface="Century Schoolbook" panose="02040604050505020304" pitchFamily="18" charset="0"/>
              </a:endParaRPr>
            </a:p>
          </p:txBody>
        </p:sp>
        <p:sp>
          <p:nvSpPr>
            <p:cNvPr id="82" name="Text 80">
              <a:extLst>
                <a:ext uri="{FF2B5EF4-FFF2-40B4-BE49-F238E27FC236}">
                  <a16:creationId xmlns:a16="http://schemas.microsoft.com/office/drawing/2014/main" id="{280A23FF-B4D3-A946-FA5D-2A670C85898E}"/>
                </a:ext>
              </a:extLst>
            </p:cNvPr>
            <p:cNvSpPr/>
            <p:nvPr/>
          </p:nvSpPr>
          <p:spPr>
            <a:xfrm>
              <a:off x="10557700" y="2519725"/>
              <a:ext cx="1426192" cy="27511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555555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Learn optimal decision policy and parameters offline.</a:t>
              </a:r>
              <a:endParaRPr lang="en-US" sz="800" dirty="0">
                <a:latin typeface="Century Schoolbook" panose="02040604050505020304" pitchFamily="18" charset="0"/>
              </a:endParaRPr>
            </a:p>
          </p:txBody>
        </p:sp>
        <p:sp>
          <p:nvSpPr>
            <p:cNvPr id="83" name="Shape 81">
              <a:extLst>
                <a:ext uri="{FF2B5EF4-FFF2-40B4-BE49-F238E27FC236}">
                  <a16:creationId xmlns:a16="http://schemas.microsoft.com/office/drawing/2014/main" id="{2831A85D-2D81-3138-BEEC-05C443BFC0FA}"/>
                </a:ext>
              </a:extLst>
            </p:cNvPr>
            <p:cNvSpPr/>
            <p:nvPr/>
          </p:nvSpPr>
          <p:spPr>
            <a:xfrm>
              <a:off x="10600084" y="2926659"/>
              <a:ext cx="1341781" cy="476306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82">
              <a:extLst>
                <a:ext uri="{FF2B5EF4-FFF2-40B4-BE49-F238E27FC236}">
                  <a16:creationId xmlns:a16="http://schemas.microsoft.com/office/drawing/2014/main" id="{DA71C1A5-A9ED-C423-2D87-849B050C4800}"/>
                </a:ext>
              </a:extLst>
            </p:cNvPr>
            <p:cNvSpPr/>
            <p:nvPr/>
          </p:nvSpPr>
          <p:spPr>
            <a:xfrm>
              <a:off x="10599454" y="3034647"/>
              <a:ext cx="1407775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Search for optimal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thresholds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85" name="Shape 83">
              <a:extLst>
                <a:ext uri="{FF2B5EF4-FFF2-40B4-BE49-F238E27FC236}">
                  <a16:creationId xmlns:a16="http://schemas.microsoft.com/office/drawing/2014/main" id="{80903EB4-D37F-204A-4B7F-C5371D15C9F6}"/>
                </a:ext>
              </a:extLst>
            </p:cNvPr>
            <p:cNvSpPr/>
            <p:nvPr/>
          </p:nvSpPr>
          <p:spPr>
            <a:xfrm>
              <a:off x="10600084" y="3431896"/>
              <a:ext cx="1341781" cy="51097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84">
              <a:extLst>
                <a:ext uri="{FF2B5EF4-FFF2-40B4-BE49-F238E27FC236}">
                  <a16:creationId xmlns:a16="http://schemas.microsoft.com/office/drawing/2014/main" id="{5749290B-AC3F-738A-5878-5FA4DC0208F0}"/>
                </a:ext>
              </a:extLst>
            </p:cNvPr>
            <p:cNvSpPr/>
            <p:nvPr/>
          </p:nvSpPr>
          <p:spPr>
            <a:xfrm>
              <a:off x="10517503" y="3530144"/>
              <a:ext cx="1518784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Learn model weights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&amp; risk penalties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87" name="Shape 85">
              <a:extLst>
                <a:ext uri="{FF2B5EF4-FFF2-40B4-BE49-F238E27FC236}">
                  <a16:creationId xmlns:a16="http://schemas.microsoft.com/office/drawing/2014/main" id="{4D056D13-D789-FB39-3709-37B96F329E6E}"/>
                </a:ext>
              </a:extLst>
            </p:cNvPr>
            <p:cNvSpPr/>
            <p:nvPr/>
          </p:nvSpPr>
          <p:spPr>
            <a:xfrm>
              <a:off x="10600084" y="3963633"/>
              <a:ext cx="1341781" cy="52169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>
              <a:extLst>
                <a:ext uri="{FF2B5EF4-FFF2-40B4-BE49-F238E27FC236}">
                  <a16:creationId xmlns:a16="http://schemas.microsoft.com/office/drawing/2014/main" id="{F1533F12-EFAB-215C-CB92-05C89E9D291E}"/>
                </a:ext>
              </a:extLst>
            </p:cNvPr>
            <p:cNvSpPr/>
            <p:nvPr/>
          </p:nvSpPr>
          <p:spPr>
            <a:xfrm>
              <a:off x="10633328" y="4073175"/>
              <a:ext cx="1274933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Deploy policy for</a:t>
              </a:r>
              <a:endParaRPr lang="en-US" sz="11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online serving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9F3A609-9EAA-35CD-9E26-BA7C7F868637}"/>
                </a:ext>
              </a:extLst>
            </p:cNvPr>
            <p:cNvGrpSpPr/>
            <p:nvPr/>
          </p:nvGrpSpPr>
          <p:grpSpPr>
            <a:xfrm>
              <a:off x="9595827" y="1870295"/>
              <a:ext cx="1707515" cy="175887"/>
              <a:chOff x="1546361" y="3294766"/>
              <a:chExt cx="5038182" cy="143016"/>
            </a:xfrm>
          </p:grpSpPr>
          <p:sp>
            <p:nvSpPr>
              <p:cNvPr id="90" name="Shape 88">
                <a:extLst>
                  <a:ext uri="{FF2B5EF4-FFF2-40B4-BE49-F238E27FC236}">
                    <a16:creationId xmlns:a16="http://schemas.microsoft.com/office/drawing/2014/main" id="{AE3A89AE-B021-5C1C-E5C5-2C64FC30DB37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5038182" cy="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Shape 89">
                <a:extLst>
                  <a:ext uri="{FF2B5EF4-FFF2-40B4-BE49-F238E27FC236}">
                    <a16:creationId xmlns:a16="http://schemas.microsoft.com/office/drawing/2014/main" id="{E69E0452-4936-120B-3908-B5DB91DCE2BA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Shape 90">
                <a:extLst>
                  <a:ext uri="{FF2B5EF4-FFF2-40B4-BE49-F238E27FC236}">
                    <a16:creationId xmlns:a16="http://schemas.microsoft.com/office/drawing/2014/main" id="{81BA6BEF-AC92-E4D4-A3E7-39B4231509DC}"/>
                  </a:ext>
                </a:extLst>
              </p:cNvPr>
              <p:cNvSpPr/>
              <p:nvPr/>
            </p:nvSpPr>
            <p:spPr>
              <a:xfrm>
                <a:off x="6584543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3" name="Text 91">
              <a:extLst>
                <a:ext uri="{FF2B5EF4-FFF2-40B4-BE49-F238E27FC236}">
                  <a16:creationId xmlns:a16="http://schemas.microsoft.com/office/drawing/2014/main" id="{C10D7D3C-3EA2-46B0-E7E4-5D0092FCF1DB}"/>
                </a:ext>
              </a:extLst>
            </p:cNvPr>
            <p:cNvSpPr/>
            <p:nvPr/>
          </p:nvSpPr>
          <p:spPr>
            <a:xfrm>
              <a:off x="9387773" y="1648075"/>
              <a:ext cx="2097295" cy="1771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4FA0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Feedback (outcome, context)</a:t>
              </a:r>
              <a:endParaRPr lang="en-US" sz="1100" dirty="0">
                <a:latin typeface="Century Schoolbook" panose="02040604050505020304" pitchFamily="18" charset="0"/>
              </a:endParaRPr>
            </a:p>
          </p:txBody>
        </p:sp>
        <p:sp>
          <p:nvSpPr>
            <p:cNvPr id="94" name="Shape 87">
              <a:extLst>
                <a:ext uri="{FF2B5EF4-FFF2-40B4-BE49-F238E27FC236}">
                  <a16:creationId xmlns:a16="http://schemas.microsoft.com/office/drawing/2014/main" id="{F09B9308-867D-235A-1F21-E2263AA2F648}"/>
                </a:ext>
              </a:extLst>
            </p:cNvPr>
            <p:cNvSpPr/>
            <p:nvPr/>
          </p:nvSpPr>
          <p:spPr>
            <a:xfrm>
              <a:off x="8676352" y="3286192"/>
              <a:ext cx="22329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87">
              <a:extLst>
                <a:ext uri="{FF2B5EF4-FFF2-40B4-BE49-F238E27FC236}">
                  <a16:creationId xmlns:a16="http://schemas.microsoft.com/office/drawing/2014/main" id="{23FA9563-E800-B811-4478-01E64F769B9E}"/>
                </a:ext>
              </a:extLst>
            </p:cNvPr>
            <p:cNvSpPr/>
            <p:nvPr/>
          </p:nvSpPr>
          <p:spPr>
            <a:xfrm>
              <a:off x="10324776" y="3282574"/>
              <a:ext cx="223290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208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128A2F97-0860-5FBB-0828-A3E71AFFB64C}"/>
              </a:ext>
            </a:extLst>
          </p:cNvPr>
          <p:cNvGrpSpPr/>
          <p:nvPr/>
        </p:nvGrpSpPr>
        <p:grpSpPr>
          <a:xfrm>
            <a:off x="139995" y="1600478"/>
            <a:ext cx="11835815" cy="3142632"/>
            <a:chOff x="139995" y="1600478"/>
            <a:chExt cx="11835815" cy="3142632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9019A560-8216-0F0A-F296-4FDECD488A1B}"/>
                </a:ext>
              </a:extLst>
            </p:cNvPr>
            <p:cNvSpPr/>
            <p:nvPr/>
          </p:nvSpPr>
          <p:spPr>
            <a:xfrm>
              <a:off x="139995" y="2441812"/>
              <a:ext cx="1302526" cy="1706772"/>
            </a:xfrm>
            <a:prstGeom prst="roundRect">
              <a:avLst>
                <a:gd name="adj" fmla="val 4571"/>
              </a:avLst>
            </a:prstGeom>
            <a:solidFill>
              <a:srgbClr val="EBF2FC"/>
            </a:solidFill>
            <a:ln w="15875">
              <a:solidFill>
                <a:srgbClr val="3B6F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056281B2-7F36-C8B6-6667-008A5CDF1B9A}"/>
                </a:ext>
              </a:extLst>
            </p:cNvPr>
            <p:cNvSpPr/>
            <p:nvPr/>
          </p:nvSpPr>
          <p:spPr>
            <a:xfrm>
              <a:off x="184659" y="2499127"/>
              <a:ext cx="1194061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F86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F3F86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Ingestion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19B216F9-6053-48A3-37C5-1B52C71A0BF1}"/>
                </a:ext>
              </a:extLst>
            </p:cNvPr>
            <p:cNvSpPr/>
            <p:nvPr/>
          </p:nvSpPr>
          <p:spPr>
            <a:xfrm>
              <a:off x="184660" y="2926659"/>
              <a:ext cx="1211314" cy="1161099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4A923E79-720C-4D50-F88C-021F1974C34B}"/>
                </a:ext>
              </a:extLst>
            </p:cNvPr>
            <p:cNvSpPr/>
            <p:nvPr/>
          </p:nvSpPr>
          <p:spPr>
            <a:xfrm>
              <a:off x="264925" y="2947626"/>
              <a:ext cx="1079235" cy="22695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599A4E62-884D-5DA2-76DE-BDC4BC25C796}"/>
                </a:ext>
              </a:extLst>
            </p:cNvPr>
            <p:cNvSpPr/>
            <p:nvPr/>
          </p:nvSpPr>
          <p:spPr>
            <a:xfrm>
              <a:off x="184659" y="3328025"/>
              <a:ext cx="1211315" cy="5295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tokens, prompt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mode, arrival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metadata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D59D8701-A520-096B-3D14-FA976054DEEF}"/>
                </a:ext>
              </a:extLst>
            </p:cNvPr>
            <p:cNvSpPr/>
            <p:nvPr/>
          </p:nvSpPr>
          <p:spPr>
            <a:xfrm>
              <a:off x="1614298" y="1830479"/>
              <a:ext cx="1585929" cy="2912631"/>
            </a:xfrm>
            <a:prstGeom prst="roundRect">
              <a:avLst>
                <a:gd name="adj" fmla="val 3902"/>
              </a:avLst>
            </a:prstGeom>
            <a:solidFill>
              <a:srgbClr val="EAF7EC"/>
            </a:solidFill>
            <a:ln w="15875">
              <a:solidFill>
                <a:srgbClr val="3C8A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E2E5EF94-C373-077D-5EA1-D8FA2C63595F}"/>
                </a:ext>
              </a:extLst>
            </p:cNvPr>
            <p:cNvSpPr/>
            <p:nvPr/>
          </p:nvSpPr>
          <p:spPr>
            <a:xfrm>
              <a:off x="1465660" y="1844808"/>
              <a:ext cx="1797038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5C2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Candidate Discovery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37" name="Shape 13">
              <a:extLst>
                <a:ext uri="{FF2B5EF4-FFF2-40B4-BE49-F238E27FC236}">
                  <a16:creationId xmlns:a16="http://schemas.microsoft.com/office/drawing/2014/main" id="{8B1F1701-AD33-0135-E9C8-A2548B7A326F}"/>
                </a:ext>
              </a:extLst>
            </p:cNvPr>
            <p:cNvSpPr/>
            <p:nvPr/>
          </p:nvSpPr>
          <p:spPr>
            <a:xfrm>
              <a:off x="1664396" y="2250078"/>
              <a:ext cx="1482381" cy="771006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6CE56029-2516-0B32-742C-92F28A7B8D98}"/>
                </a:ext>
              </a:extLst>
            </p:cNvPr>
            <p:cNvSpPr/>
            <p:nvPr/>
          </p:nvSpPr>
          <p:spPr>
            <a:xfrm>
              <a:off x="1763159" y="2344743"/>
              <a:ext cx="1276479" cy="2118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Exact-Prefix Index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EBB5A8A4-AE2F-CBA2-E261-CC5879362F91}"/>
                </a:ext>
              </a:extLst>
            </p:cNvPr>
            <p:cNvSpPr/>
            <p:nvPr/>
          </p:nvSpPr>
          <p:spPr>
            <a:xfrm>
              <a:off x="1763159" y="2577816"/>
              <a:ext cx="1276479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longest exact prefix matches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58BA2507-D33A-76CD-0BAF-7AB02822CD65}"/>
                </a:ext>
              </a:extLst>
            </p:cNvPr>
            <p:cNvSpPr/>
            <p:nvPr/>
          </p:nvSpPr>
          <p:spPr>
            <a:xfrm>
              <a:off x="1664396" y="3049743"/>
              <a:ext cx="1482381" cy="771006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17">
              <a:extLst>
                <a:ext uri="{FF2B5EF4-FFF2-40B4-BE49-F238E27FC236}">
                  <a16:creationId xmlns:a16="http://schemas.microsoft.com/office/drawing/2014/main" id="{FB926E75-C662-042A-15EE-FAC6831D4EC4}"/>
                </a:ext>
              </a:extLst>
            </p:cNvPr>
            <p:cNvSpPr/>
            <p:nvPr/>
          </p:nvSpPr>
          <p:spPr>
            <a:xfrm>
              <a:off x="1725944" y="3179984"/>
              <a:ext cx="1338370" cy="1664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Semantic KV Index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15BC2B8E-286C-593A-5502-174084D52907}"/>
                </a:ext>
              </a:extLst>
            </p:cNvPr>
            <p:cNvSpPr/>
            <p:nvPr/>
          </p:nvSpPr>
          <p:spPr>
            <a:xfrm>
              <a:off x="1763159" y="3409669"/>
              <a:ext cx="1276479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top-k similar prefixes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3" name="Shape 19">
              <a:extLst>
                <a:ext uri="{FF2B5EF4-FFF2-40B4-BE49-F238E27FC236}">
                  <a16:creationId xmlns:a16="http://schemas.microsoft.com/office/drawing/2014/main" id="{1ABAD0B8-7FFD-3B9B-B325-41607034E20F}"/>
                </a:ext>
              </a:extLst>
            </p:cNvPr>
            <p:cNvSpPr/>
            <p:nvPr/>
          </p:nvSpPr>
          <p:spPr>
            <a:xfrm>
              <a:off x="1664396" y="3855851"/>
              <a:ext cx="1482381" cy="83849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B111FF8F-C5BD-589F-C741-103CA1A51FD5}"/>
                </a:ext>
              </a:extLst>
            </p:cNvPr>
            <p:cNvSpPr/>
            <p:nvPr/>
          </p:nvSpPr>
          <p:spPr>
            <a:xfrm>
              <a:off x="1656055" y="3947042"/>
              <a:ext cx="1542527" cy="2096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Runtime Estimates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5" name="Text 21">
              <a:extLst>
                <a:ext uri="{FF2B5EF4-FFF2-40B4-BE49-F238E27FC236}">
                  <a16:creationId xmlns:a16="http://schemas.microsoft.com/office/drawing/2014/main" id="{FB4538A6-1344-71CF-D072-91E48ECAAFDA}"/>
                </a:ext>
              </a:extLst>
            </p:cNvPr>
            <p:cNvSpPr/>
            <p:nvPr/>
          </p:nvSpPr>
          <p:spPr>
            <a:xfrm>
              <a:off x="1564786" y="4244344"/>
              <a:ext cx="1670413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relevance, cost, risk (online statistics)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9FB9A5DB-2143-ED4D-B8D2-9CDFDB4AA209}"/>
                </a:ext>
              </a:extLst>
            </p:cNvPr>
            <p:cNvSpPr/>
            <p:nvPr/>
          </p:nvSpPr>
          <p:spPr>
            <a:xfrm>
              <a:off x="3391819" y="1830479"/>
              <a:ext cx="3609857" cy="2912631"/>
            </a:xfrm>
            <a:prstGeom prst="roundRect">
              <a:avLst>
                <a:gd name="adj" fmla="val 2078"/>
              </a:avLst>
            </a:prstGeom>
            <a:solidFill>
              <a:srgbClr val="F3EFFB"/>
            </a:solidFill>
            <a:ln w="19050">
              <a:solidFill>
                <a:srgbClr val="8B6FC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25">
              <a:extLst>
                <a:ext uri="{FF2B5EF4-FFF2-40B4-BE49-F238E27FC236}">
                  <a16:creationId xmlns:a16="http://schemas.microsoft.com/office/drawing/2014/main" id="{D5617DCC-4935-6DCF-0E17-F0FDEA0B713A}"/>
                </a:ext>
              </a:extLst>
            </p:cNvPr>
            <p:cNvSpPr/>
            <p:nvPr/>
          </p:nvSpPr>
          <p:spPr>
            <a:xfrm>
              <a:off x="3391819" y="1863311"/>
              <a:ext cx="3609857" cy="26478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3E9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Utility Controller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709AA580-AE2C-80A4-060A-B4FEAEAF4B65}"/>
                </a:ext>
              </a:extLst>
            </p:cNvPr>
            <p:cNvSpPr/>
            <p:nvPr/>
          </p:nvSpPr>
          <p:spPr>
            <a:xfrm>
              <a:off x="3391819" y="2113598"/>
              <a:ext cx="3609857" cy="1588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Evaluate candidates and decide reuse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9" name="Shape 27">
              <a:extLst>
                <a:ext uri="{FF2B5EF4-FFF2-40B4-BE49-F238E27FC236}">
                  <a16:creationId xmlns:a16="http://schemas.microsoft.com/office/drawing/2014/main" id="{333A1CE9-8B37-D926-6E75-49B6FE2DF158}"/>
                </a:ext>
              </a:extLst>
            </p:cNvPr>
            <p:cNvSpPr/>
            <p:nvPr/>
          </p:nvSpPr>
          <p:spPr>
            <a:xfrm>
              <a:off x="3441560" y="2344743"/>
              <a:ext cx="1738392" cy="1803843"/>
            </a:xfrm>
            <a:prstGeom prst="roundRect">
              <a:avLst>
                <a:gd name="adj" fmla="val 3902"/>
              </a:avLst>
            </a:prstGeom>
            <a:solidFill>
              <a:srgbClr val="FAF8FE"/>
            </a:solidFill>
            <a:ln w="12700">
              <a:solidFill>
                <a:srgbClr val="D8CC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28">
              <a:extLst>
                <a:ext uri="{FF2B5EF4-FFF2-40B4-BE49-F238E27FC236}">
                  <a16:creationId xmlns:a16="http://schemas.microsoft.com/office/drawing/2014/main" id="{5D6611C1-E7AA-41A5-B6D9-8218B40B29C6}"/>
                </a:ext>
              </a:extLst>
            </p:cNvPr>
            <p:cNvSpPr/>
            <p:nvPr/>
          </p:nvSpPr>
          <p:spPr>
            <a:xfrm>
              <a:off x="3379313" y="2412598"/>
              <a:ext cx="1918681" cy="2367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3E9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Exact-Prefix Branch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52" name="Shape 30">
              <a:extLst>
                <a:ext uri="{FF2B5EF4-FFF2-40B4-BE49-F238E27FC236}">
                  <a16:creationId xmlns:a16="http://schemas.microsoft.com/office/drawing/2014/main" id="{7B632700-8938-482E-41D5-992676810545}"/>
                </a:ext>
              </a:extLst>
            </p:cNvPr>
            <p:cNvSpPr/>
            <p:nvPr/>
          </p:nvSpPr>
          <p:spPr>
            <a:xfrm>
              <a:off x="3502025" y="2666280"/>
              <a:ext cx="1620311" cy="333406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B23C17B4-8336-D7A3-1029-7EC158FA29FF}"/>
                </a:ext>
              </a:extLst>
            </p:cNvPr>
            <p:cNvSpPr/>
            <p:nvPr/>
          </p:nvSpPr>
          <p:spPr>
            <a:xfrm>
              <a:off x="3615110" y="2662065"/>
              <a:ext cx="1414171" cy="30006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Score candidate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54" name="Shape 32">
              <a:extLst>
                <a:ext uri="{FF2B5EF4-FFF2-40B4-BE49-F238E27FC236}">
                  <a16:creationId xmlns:a16="http://schemas.microsoft.com/office/drawing/2014/main" id="{B94153A9-EB63-33A2-25E0-DE65A40163FD}"/>
                </a:ext>
              </a:extLst>
            </p:cNvPr>
            <p:cNvSpPr/>
            <p:nvPr/>
          </p:nvSpPr>
          <p:spPr>
            <a:xfrm>
              <a:off x="3502025" y="3047599"/>
              <a:ext cx="1620311" cy="64286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33">
              <a:extLst>
                <a:ext uri="{FF2B5EF4-FFF2-40B4-BE49-F238E27FC236}">
                  <a16:creationId xmlns:a16="http://schemas.microsoft.com/office/drawing/2014/main" id="{28A3001D-043C-355B-FCC8-C3610E7EF649}"/>
                </a:ext>
              </a:extLst>
            </p:cNvPr>
            <p:cNvSpPr/>
            <p:nvPr/>
          </p:nvSpPr>
          <p:spPr>
            <a:xfrm>
              <a:off x="3615110" y="3156978"/>
              <a:ext cx="1414171" cy="4186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Check usefulness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(benefit vs. cost)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56" name="Shape 34">
              <a:extLst>
                <a:ext uri="{FF2B5EF4-FFF2-40B4-BE49-F238E27FC236}">
                  <a16:creationId xmlns:a16="http://schemas.microsoft.com/office/drawing/2014/main" id="{9816BC27-FDEA-3BFF-5F06-EE9F6DC820C0}"/>
                </a:ext>
              </a:extLst>
            </p:cNvPr>
            <p:cNvSpPr/>
            <p:nvPr/>
          </p:nvSpPr>
          <p:spPr>
            <a:xfrm>
              <a:off x="3502025" y="3720722"/>
              <a:ext cx="1620311" cy="3863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35">
              <a:extLst>
                <a:ext uri="{FF2B5EF4-FFF2-40B4-BE49-F238E27FC236}">
                  <a16:creationId xmlns:a16="http://schemas.microsoft.com/office/drawing/2014/main" id="{BD1BFA89-959A-56A1-A791-8A6E3302D348}"/>
                </a:ext>
              </a:extLst>
            </p:cNvPr>
            <p:cNvSpPr/>
            <p:nvPr/>
          </p:nvSpPr>
          <p:spPr>
            <a:xfrm>
              <a:off x="3615110" y="3728285"/>
              <a:ext cx="1414171" cy="36366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Reuse if useful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58" name="Shape 36">
              <a:extLst>
                <a:ext uri="{FF2B5EF4-FFF2-40B4-BE49-F238E27FC236}">
                  <a16:creationId xmlns:a16="http://schemas.microsoft.com/office/drawing/2014/main" id="{C900D421-66B3-CBA5-33A4-3257E318E2E6}"/>
                </a:ext>
              </a:extLst>
            </p:cNvPr>
            <p:cNvSpPr/>
            <p:nvPr/>
          </p:nvSpPr>
          <p:spPr>
            <a:xfrm>
              <a:off x="5214552" y="2344742"/>
              <a:ext cx="1733942" cy="1803836"/>
            </a:xfrm>
            <a:prstGeom prst="roundRect">
              <a:avLst>
                <a:gd name="adj" fmla="val 3902"/>
              </a:avLst>
            </a:prstGeom>
            <a:solidFill>
              <a:srgbClr val="FAF8FE"/>
            </a:solidFill>
            <a:ln w="12700">
              <a:solidFill>
                <a:srgbClr val="D8CCEE"/>
              </a:solidFill>
              <a:prstDash val="solid"/>
            </a:ln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9" name="Text 37">
              <a:extLst>
                <a:ext uri="{FF2B5EF4-FFF2-40B4-BE49-F238E27FC236}">
                  <a16:creationId xmlns:a16="http://schemas.microsoft.com/office/drawing/2014/main" id="{73C0DCE4-7910-63A7-1054-28BF71EB25CD}"/>
                </a:ext>
              </a:extLst>
            </p:cNvPr>
            <p:cNvSpPr/>
            <p:nvPr/>
          </p:nvSpPr>
          <p:spPr>
            <a:xfrm>
              <a:off x="5252570" y="2430284"/>
              <a:ext cx="1694596" cy="2083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3E9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Semantic Branch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1" name="Shape 39">
              <a:extLst>
                <a:ext uri="{FF2B5EF4-FFF2-40B4-BE49-F238E27FC236}">
                  <a16:creationId xmlns:a16="http://schemas.microsoft.com/office/drawing/2014/main" id="{021AC2BC-D5B7-597A-8980-B0DEF3F3AE15}"/>
                </a:ext>
              </a:extLst>
            </p:cNvPr>
            <p:cNvSpPr/>
            <p:nvPr/>
          </p:nvSpPr>
          <p:spPr>
            <a:xfrm>
              <a:off x="5261819" y="2666280"/>
              <a:ext cx="1628211" cy="333406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40">
              <a:extLst>
                <a:ext uri="{FF2B5EF4-FFF2-40B4-BE49-F238E27FC236}">
                  <a16:creationId xmlns:a16="http://schemas.microsoft.com/office/drawing/2014/main" id="{4A0A06F7-450A-BCC4-39E0-59D623BF6E60}"/>
                </a:ext>
              </a:extLst>
            </p:cNvPr>
            <p:cNvSpPr/>
            <p:nvPr/>
          </p:nvSpPr>
          <p:spPr>
            <a:xfrm>
              <a:off x="5364215" y="2691210"/>
              <a:ext cx="1463515" cy="26579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Score candidate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3" name="Shape 41">
              <a:extLst>
                <a:ext uri="{FF2B5EF4-FFF2-40B4-BE49-F238E27FC236}">
                  <a16:creationId xmlns:a16="http://schemas.microsoft.com/office/drawing/2014/main" id="{4E145398-0226-7A82-0C18-07DFD0948D16}"/>
                </a:ext>
              </a:extLst>
            </p:cNvPr>
            <p:cNvSpPr/>
            <p:nvPr/>
          </p:nvSpPr>
          <p:spPr>
            <a:xfrm>
              <a:off x="5261819" y="3049744"/>
              <a:ext cx="1628211" cy="646867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42">
              <a:extLst>
                <a:ext uri="{FF2B5EF4-FFF2-40B4-BE49-F238E27FC236}">
                  <a16:creationId xmlns:a16="http://schemas.microsoft.com/office/drawing/2014/main" id="{84B53046-9AA9-FBEC-2F4B-AFB547BECF7A}"/>
                </a:ext>
              </a:extLst>
            </p:cNvPr>
            <p:cNvSpPr/>
            <p:nvPr/>
          </p:nvSpPr>
          <p:spPr>
            <a:xfrm>
              <a:off x="5297994" y="3212693"/>
              <a:ext cx="1555154" cy="30006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Guard for reliability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(similarity &amp; risk)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5" name="Shape 43">
              <a:extLst>
                <a:ext uri="{FF2B5EF4-FFF2-40B4-BE49-F238E27FC236}">
                  <a16:creationId xmlns:a16="http://schemas.microsoft.com/office/drawing/2014/main" id="{9416AA40-B94B-5B16-D113-37001A743EE0}"/>
                </a:ext>
              </a:extLst>
            </p:cNvPr>
            <p:cNvSpPr/>
            <p:nvPr/>
          </p:nvSpPr>
          <p:spPr>
            <a:xfrm>
              <a:off x="5261819" y="3754353"/>
              <a:ext cx="1628211" cy="333406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0D5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44">
              <a:extLst>
                <a:ext uri="{FF2B5EF4-FFF2-40B4-BE49-F238E27FC236}">
                  <a16:creationId xmlns:a16="http://schemas.microsoft.com/office/drawing/2014/main" id="{A366A0E7-E2BA-7808-91C5-370809F9F43F}"/>
                </a:ext>
              </a:extLst>
            </p:cNvPr>
            <p:cNvSpPr/>
            <p:nvPr/>
          </p:nvSpPr>
          <p:spPr>
            <a:xfrm>
              <a:off x="5198066" y="3772562"/>
              <a:ext cx="1757715" cy="30006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Reuse if safe &amp; useful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7" name="Shape 45">
              <a:extLst>
                <a:ext uri="{FF2B5EF4-FFF2-40B4-BE49-F238E27FC236}">
                  <a16:creationId xmlns:a16="http://schemas.microsoft.com/office/drawing/2014/main" id="{45E8C396-6B2D-B5D9-D547-355F7EEED139}"/>
                </a:ext>
              </a:extLst>
            </p:cNvPr>
            <p:cNvSpPr/>
            <p:nvPr/>
          </p:nvSpPr>
          <p:spPr>
            <a:xfrm>
              <a:off x="3447956" y="4176195"/>
              <a:ext cx="3500538" cy="518154"/>
            </a:xfrm>
            <a:prstGeom prst="roundRect">
              <a:avLst>
                <a:gd name="adj" fmla="val 14545"/>
              </a:avLst>
            </a:prstGeom>
            <a:solidFill>
              <a:srgbClr val="EAE1F7"/>
            </a:solidFill>
            <a:ln w="12700">
              <a:solidFill>
                <a:srgbClr val="C9B3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46">
              <a:extLst>
                <a:ext uri="{FF2B5EF4-FFF2-40B4-BE49-F238E27FC236}">
                  <a16:creationId xmlns:a16="http://schemas.microsoft.com/office/drawing/2014/main" id="{51F8C66F-4845-12F1-C997-ECAFCF307AC6}"/>
                </a:ext>
              </a:extLst>
            </p:cNvPr>
            <p:cNvSpPr/>
            <p:nvPr/>
          </p:nvSpPr>
          <p:spPr>
            <a:xfrm>
              <a:off x="3503464" y="4256054"/>
              <a:ext cx="3386566" cy="18156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3E9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Risk-Averse Extension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9" name="Text 47">
              <a:extLst>
                <a:ext uri="{FF2B5EF4-FFF2-40B4-BE49-F238E27FC236}">
                  <a16:creationId xmlns:a16="http://schemas.microsoft.com/office/drawing/2014/main" id="{7160027C-3FDB-7CF7-E6EC-3BF327D8ED83}"/>
                </a:ext>
              </a:extLst>
            </p:cNvPr>
            <p:cNvSpPr/>
            <p:nvPr/>
          </p:nvSpPr>
          <p:spPr>
            <a:xfrm>
              <a:off x="3477144" y="4462224"/>
              <a:ext cx="3523338" cy="1494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Penalize high-risk reuse (misleading matches)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0" name="Shape 48">
              <a:extLst>
                <a:ext uri="{FF2B5EF4-FFF2-40B4-BE49-F238E27FC236}">
                  <a16:creationId xmlns:a16="http://schemas.microsoft.com/office/drawing/2014/main" id="{8AFF08B0-7BCF-87D2-9652-A3726DDEF3C7}"/>
                </a:ext>
              </a:extLst>
            </p:cNvPr>
            <p:cNvSpPr/>
            <p:nvPr/>
          </p:nvSpPr>
          <p:spPr>
            <a:xfrm>
              <a:off x="7172979" y="2268043"/>
              <a:ext cx="1503374" cy="2152714"/>
            </a:xfrm>
            <a:prstGeom prst="roundRect">
              <a:avLst>
                <a:gd name="adj" fmla="val 4211"/>
              </a:avLst>
            </a:prstGeom>
            <a:solidFill>
              <a:srgbClr val="EBF2FC"/>
            </a:solidFill>
            <a:ln w="15875">
              <a:solidFill>
                <a:srgbClr val="3B6F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51">
              <a:extLst>
                <a:ext uri="{FF2B5EF4-FFF2-40B4-BE49-F238E27FC236}">
                  <a16:creationId xmlns:a16="http://schemas.microsoft.com/office/drawing/2014/main" id="{E1458791-B3C5-138C-1EAD-F2F0403BEAE2}"/>
                </a:ext>
              </a:extLst>
            </p:cNvPr>
            <p:cNvSpPr/>
            <p:nvPr/>
          </p:nvSpPr>
          <p:spPr>
            <a:xfrm>
              <a:off x="7210193" y="2212843"/>
              <a:ext cx="1519341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F86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Reuse</a:t>
              </a:r>
              <a:r>
                <a:rPr lang="en-US" sz="1200" dirty="0">
                  <a:latin typeface="Century Schoolbook" panose="02040604050505020304" pitchFamily="18" charset="0"/>
                </a:rPr>
                <a:t> </a:t>
              </a:r>
              <a:r>
                <a:rPr lang="en-US" sz="1200" b="1" dirty="0">
                  <a:solidFill>
                    <a:srgbClr val="1F3F86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Decision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5569BFAB-A421-A59E-677C-E90C4AA94274}"/>
                </a:ext>
              </a:extLst>
            </p:cNvPr>
            <p:cNvSpPr/>
            <p:nvPr/>
          </p:nvSpPr>
          <p:spPr>
            <a:xfrm>
              <a:off x="7231900" y="2618540"/>
              <a:ext cx="1403888" cy="829230"/>
            </a:xfrm>
            <a:prstGeom prst="roundRect">
              <a:avLst>
                <a:gd name="adj" fmla="val 8421"/>
              </a:avLst>
            </a:prstGeom>
            <a:solidFill>
              <a:srgbClr val="EAF7EC"/>
            </a:solidFill>
            <a:ln w="12700">
              <a:solidFill>
                <a:srgbClr val="3C8A4E"/>
              </a:solidFill>
              <a:prstDash val="solid"/>
            </a:ln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73" name="Text 53">
              <a:extLst>
                <a:ext uri="{FF2B5EF4-FFF2-40B4-BE49-F238E27FC236}">
                  <a16:creationId xmlns:a16="http://schemas.microsoft.com/office/drawing/2014/main" id="{C8475572-1426-D650-099A-4446157E896D}"/>
                </a:ext>
              </a:extLst>
            </p:cNvPr>
            <p:cNvSpPr/>
            <p:nvPr/>
          </p:nvSpPr>
          <p:spPr>
            <a:xfrm>
              <a:off x="7347264" y="2708985"/>
              <a:ext cx="1190880" cy="1891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5C2E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Reuse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4" name="Text 54">
              <a:extLst>
                <a:ext uri="{FF2B5EF4-FFF2-40B4-BE49-F238E27FC236}">
                  <a16:creationId xmlns:a16="http://schemas.microsoft.com/office/drawing/2014/main" id="{C7B09E1A-0417-B4F9-F7EC-23987F4BB038}"/>
                </a:ext>
              </a:extLst>
            </p:cNvPr>
            <p:cNvSpPr/>
            <p:nvPr/>
          </p:nvSpPr>
          <p:spPr>
            <a:xfrm>
              <a:off x="7160900" y="2907448"/>
              <a:ext cx="1527531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Return cached KV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(exact or semantic)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B323FC16-658C-58B7-5137-51D4CB8A7FBA}"/>
                </a:ext>
              </a:extLst>
            </p:cNvPr>
            <p:cNvSpPr/>
            <p:nvPr/>
          </p:nvSpPr>
          <p:spPr>
            <a:xfrm>
              <a:off x="7231900" y="3499763"/>
              <a:ext cx="1403888" cy="829230"/>
            </a:xfrm>
            <a:prstGeom prst="roundRect">
              <a:avLst>
                <a:gd name="adj" fmla="val 8421"/>
              </a:avLst>
            </a:prstGeom>
            <a:solidFill>
              <a:srgbClr val="FCEDED"/>
            </a:solidFill>
            <a:ln w="12700">
              <a:solidFill>
                <a:srgbClr val="C96A6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56">
              <a:extLst>
                <a:ext uri="{FF2B5EF4-FFF2-40B4-BE49-F238E27FC236}">
                  <a16:creationId xmlns:a16="http://schemas.microsoft.com/office/drawing/2014/main" id="{EB8DA943-E120-200F-043F-5BE7801C14BD}"/>
                </a:ext>
              </a:extLst>
            </p:cNvPr>
            <p:cNvSpPr/>
            <p:nvPr/>
          </p:nvSpPr>
          <p:spPr>
            <a:xfrm>
              <a:off x="7338404" y="3579732"/>
              <a:ext cx="1190880" cy="1891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E3A3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Bypass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7" name="Text 57">
              <a:extLst>
                <a:ext uri="{FF2B5EF4-FFF2-40B4-BE49-F238E27FC236}">
                  <a16:creationId xmlns:a16="http://schemas.microsoft.com/office/drawing/2014/main" id="{1AEC72C1-DD17-B482-275C-41ECC25AA16B}"/>
                </a:ext>
              </a:extLst>
            </p:cNvPr>
            <p:cNvSpPr/>
            <p:nvPr/>
          </p:nvSpPr>
          <p:spPr>
            <a:xfrm>
              <a:off x="7171066" y="3769354"/>
              <a:ext cx="1543276" cy="3782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No reuse,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444444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compute normally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F329AC16-38B8-48C9-59CD-541789951D59}"/>
                </a:ext>
              </a:extLst>
            </p:cNvPr>
            <p:cNvSpPr/>
            <p:nvPr/>
          </p:nvSpPr>
          <p:spPr>
            <a:xfrm>
              <a:off x="1433189" y="3286794"/>
              <a:ext cx="181109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6FE0D992-13AC-C9EB-EE21-6630577F60E3}"/>
                </a:ext>
              </a:extLst>
            </p:cNvPr>
            <p:cNvSpPr/>
            <p:nvPr/>
          </p:nvSpPr>
          <p:spPr>
            <a:xfrm>
              <a:off x="3198583" y="3286794"/>
              <a:ext cx="193236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63BD4470-9B83-7D9A-B932-ACC12D26288C}"/>
                </a:ext>
              </a:extLst>
            </p:cNvPr>
            <p:cNvSpPr/>
            <p:nvPr/>
          </p:nvSpPr>
          <p:spPr>
            <a:xfrm flipV="1">
              <a:off x="7001676" y="3282574"/>
              <a:ext cx="177043" cy="422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BE51F71-67F8-653F-A5F4-1587DD833BC5}"/>
                </a:ext>
              </a:extLst>
            </p:cNvPr>
            <p:cNvSpPr/>
            <p:nvPr/>
          </p:nvSpPr>
          <p:spPr>
            <a:xfrm>
              <a:off x="7757141" y="1626216"/>
              <a:ext cx="0" cy="641827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8858D043-0A4C-BBC0-D980-B6E341237B32}"/>
                </a:ext>
              </a:extLst>
            </p:cNvPr>
            <p:cNvSpPr/>
            <p:nvPr/>
          </p:nvSpPr>
          <p:spPr>
            <a:xfrm>
              <a:off x="5377241" y="1626216"/>
              <a:ext cx="2379900" cy="0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69461BD8-9FD4-6D6F-7EB6-91370F724778}"/>
                </a:ext>
              </a:extLst>
            </p:cNvPr>
            <p:cNvSpPr/>
            <p:nvPr/>
          </p:nvSpPr>
          <p:spPr>
            <a:xfrm>
              <a:off x="5377241" y="1626216"/>
              <a:ext cx="0" cy="204262"/>
            </a:xfrm>
            <a:prstGeom prst="line">
              <a:avLst/>
            </a:prstGeom>
            <a:noFill/>
            <a:ln w="19050">
              <a:solidFill>
                <a:srgbClr val="6A4FA0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64">
              <a:extLst>
                <a:ext uri="{FF2B5EF4-FFF2-40B4-BE49-F238E27FC236}">
                  <a16:creationId xmlns:a16="http://schemas.microsoft.com/office/drawing/2014/main" id="{6F83C5E3-0C28-FCB1-7B90-C25C95F1A6BA}"/>
                </a:ext>
              </a:extLst>
            </p:cNvPr>
            <p:cNvSpPr/>
            <p:nvPr/>
          </p:nvSpPr>
          <p:spPr>
            <a:xfrm>
              <a:off x="4934622" y="1600478"/>
              <a:ext cx="3273061" cy="22695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A4FA0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Observed hit / waste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4" name="Shape 65">
              <a:extLst>
                <a:ext uri="{FF2B5EF4-FFF2-40B4-BE49-F238E27FC236}">
                  <a16:creationId xmlns:a16="http://schemas.microsoft.com/office/drawing/2014/main" id="{43BF01B7-76BF-888F-5323-9C1092733347}"/>
                </a:ext>
              </a:extLst>
            </p:cNvPr>
            <p:cNvSpPr/>
            <p:nvPr/>
          </p:nvSpPr>
          <p:spPr>
            <a:xfrm>
              <a:off x="8863190" y="2277349"/>
              <a:ext cx="1426192" cy="2105939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67">
              <a:extLst>
                <a:ext uri="{FF2B5EF4-FFF2-40B4-BE49-F238E27FC236}">
                  <a16:creationId xmlns:a16="http://schemas.microsoft.com/office/drawing/2014/main" id="{161CDBCD-696D-7AE2-1D20-D984DEF72370}"/>
                </a:ext>
              </a:extLst>
            </p:cNvPr>
            <p:cNvSpPr/>
            <p:nvPr/>
          </p:nvSpPr>
          <p:spPr>
            <a:xfrm>
              <a:off x="8932270" y="2029983"/>
              <a:ext cx="253063" cy="2572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6" name="Text 68">
              <a:extLst>
                <a:ext uri="{FF2B5EF4-FFF2-40B4-BE49-F238E27FC236}">
                  <a16:creationId xmlns:a16="http://schemas.microsoft.com/office/drawing/2014/main" id="{E9FE6C68-4A7E-CB0F-5FCC-AE4E9E010033}"/>
                </a:ext>
              </a:extLst>
            </p:cNvPr>
            <p:cNvSpPr/>
            <p:nvPr/>
          </p:nvSpPr>
          <p:spPr>
            <a:xfrm>
              <a:off x="8832811" y="2413353"/>
              <a:ext cx="1519343" cy="21182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Calibration &amp; Thresholding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8" name="Shape 70">
              <a:extLst>
                <a:ext uri="{FF2B5EF4-FFF2-40B4-BE49-F238E27FC236}">
                  <a16:creationId xmlns:a16="http://schemas.microsoft.com/office/drawing/2014/main" id="{F5FE3775-A67B-700F-E062-20C5A3C92B92}"/>
                </a:ext>
              </a:extLst>
            </p:cNvPr>
            <p:cNvSpPr/>
            <p:nvPr/>
          </p:nvSpPr>
          <p:spPr>
            <a:xfrm>
              <a:off x="8901463" y="2760380"/>
              <a:ext cx="1336448" cy="478124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9" name="Text 71">
              <a:extLst>
                <a:ext uri="{FF2B5EF4-FFF2-40B4-BE49-F238E27FC236}">
                  <a16:creationId xmlns:a16="http://schemas.microsoft.com/office/drawing/2014/main" id="{B3F4C8AF-8DEE-0483-F045-09C8EDC8EB1E}"/>
                </a:ext>
              </a:extLst>
            </p:cNvPr>
            <p:cNvSpPr/>
            <p:nvPr/>
          </p:nvSpPr>
          <p:spPr>
            <a:xfrm>
              <a:off x="8814957" y="2856621"/>
              <a:ext cx="1503374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Learn thresholds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(breakeven points)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10" name="Shape 72">
              <a:extLst>
                <a:ext uri="{FF2B5EF4-FFF2-40B4-BE49-F238E27FC236}">
                  <a16:creationId xmlns:a16="http://schemas.microsoft.com/office/drawing/2014/main" id="{3A03B2BF-75C0-EE7D-C8F4-4817FC07A36B}"/>
                </a:ext>
              </a:extLst>
            </p:cNvPr>
            <p:cNvSpPr/>
            <p:nvPr/>
          </p:nvSpPr>
          <p:spPr>
            <a:xfrm>
              <a:off x="8906811" y="3267434"/>
              <a:ext cx="1336448" cy="51097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73">
              <a:extLst>
                <a:ext uri="{FF2B5EF4-FFF2-40B4-BE49-F238E27FC236}">
                  <a16:creationId xmlns:a16="http://schemas.microsoft.com/office/drawing/2014/main" id="{6014ABBF-882D-B18B-C60A-CA61BDC1372B}"/>
                </a:ext>
              </a:extLst>
            </p:cNvPr>
            <p:cNvSpPr/>
            <p:nvPr/>
          </p:nvSpPr>
          <p:spPr>
            <a:xfrm>
              <a:off x="8832531" y="3396870"/>
              <a:ext cx="1487507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Adapt to workload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characteristics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12" name="Shape 74">
              <a:extLst>
                <a:ext uri="{FF2B5EF4-FFF2-40B4-BE49-F238E27FC236}">
                  <a16:creationId xmlns:a16="http://schemas.microsoft.com/office/drawing/2014/main" id="{A248C232-4E1B-AF56-349E-C954E919F4B7}"/>
                </a:ext>
              </a:extLst>
            </p:cNvPr>
            <p:cNvSpPr/>
            <p:nvPr/>
          </p:nvSpPr>
          <p:spPr>
            <a:xfrm>
              <a:off x="8906811" y="3799170"/>
              <a:ext cx="1336448" cy="53286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75">
              <a:extLst>
                <a:ext uri="{FF2B5EF4-FFF2-40B4-BE49-F238E27FC236}">
                  <a16:creationId xmlns:a16="http://schemas.microsoft.com/office/drawing/2014/main" id="{BEDEAADA-6449-2312-6A32-E34B8DD0C1DF}"/>
                </a:ext>
              </a:extLst>
            </p:cNvPr>
            <p:cNvSpPr/>
            <p:nvPr/>
          </p:nvSpPr>
          <p:spPr>
            <a:xfrm>
              <a:off x="8832532" y="3923295"/>
              <a:ext cx="1487507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Control precision-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recall trade-off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14" name="Shape 76">
              <a:extLst>
                <a:ext uri="{FF2B5EF4-FFF2-40B4-BE49-F238E27FC236}">
                  <a16:creationId xmlns:a16="http://schemas.microsoft.com/office/drawing/2014/main" id="{5215DD74-9919-FDAC-F572-7F5D732F5452}"/>
                </a:ext>
              </a:extLst>
            </p:cNvPr>
            <p:cNvSpPr/>
            <p:nvPr/>
          </p:nvSpPr>
          <p:spPr>
            <a:xfrm>
              <a:off x="10469215" y="2277349"/>
              <a:ext cx="1426192" cy="2105939"/>
            </a:xfrm>
            <a:prstGeom prst="roundRect">
              <a:avLst>
                <a:gd name="adj" fmla="val 5714"/>
              </a:avLst>
            </a:prstGeom>
            <a:solidFill>
              <a:srgbClr val="F6F6F6"/>
            </a:solidFill>
            <a:ln w="15875">
              <a:solidFill>
                <a:srgbClr val="B9B9B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79">
              <a:extLst>
                <a:ext uri="{FF2B5EF4-FFF2-40B4-BE49-F238E27FC236}">
                  <a16:creationId xmlns:a16="http://schemas.microsoft.com/office/drawing/2014/main" id="{D4484FA9-1146-F32C-B23F-F21CECAF6D0F}"/>
                </a:ext>
              </a:extLst>
            </p:cNvPr>
            <p:cNvSpPr/>
            <p:nvPr/>
          </p:nvSpPr>
          <p:spPr>
            <a:xfrm>
              <a:off x="10438769" y="2366503"/>
              <a:ext cx="1483458" cy="3305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Offline Policy Learner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17" name="Shape 81">
              <a:extLst>
                <a:ext uri="{FF2B5EF4-FFF2-40B4-BE49-F238E27FC236}">
                  <a16:creationId xmlns:a16="http://schemas.microsoft.com/office/drawing/2014/main" id="{82F7E7E1-065C-B160-B793-8CFC5EE6FD96}"/>
                </a:ext>
              </a:extLst>
            </p:cNvPr>
            <p:cNvSpPr/>
            <p:nvPr/>
          </p:nvSpPr>
          <p:spPr>
            <a:xfrm>
              <a:off x="10511599" y="2762196"/>
              <a:ext cx="1341781" cy="476306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82">
              <a:extLst>
                <a:ext uri="{FF2B5EF4-FFF2-40B4-BE49-F238E27FC236}">
                  <a16:creationId xmlns:a16="http://schemas.microsoft.com/office/drawing/2014/main" id="{59985263-F2A8-C2A3-2DCD-0A10170FEDE9}"/>
                </a:ext>
              </a:extLst>
            </p:cNvPr>
            <p:cNvSpPr/>
            <p:nvPr/>
          </p:nvSpPr>
          <p:spPr>
            <a:xfrm>
              <a:off x="10418452" y="2860951"/>
              <a:ext cx="1518784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Search for optimal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thresholds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19" name="Shape 83">
              <a:extLst>
                <a:ext uri="{FF2B5EF4-FFF2-40B4-BE49-F238E27FC236}">
                  <a16:creationId xmlns:a16="http://schemas.microsoft.com/office/drawing/2014/main" id="{AE0D3FA0-F5BF-A5D5-C9CC-DD38469119F2}"/>
                </a:ext>
              </a:extLst>
            </p:cNvPr>
            <p:cNvSpPr/>
            <p:nvPr/>
          </p:nvSpPr>
          <p:spPr>
            <a:xfrm>
              <a:off x="10511599" y="3267433"/>
              <a:ext cx="1341781" cy="510971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84">
              <a:extLst>
                <a:ext uri="{FF2B5EF4-FFF2-40B4-BE49-F238E27FC236}">
                  <a16:creationId xmlns:a16="http://schemas.microsoft.com/office/drawing/2014/main" id="{05490E16-F245-D575-7B40-E14D0CCB6595}"/>
                </a:ext>
              </a:extLst>
            </p:cNvPr>
            <p:cNvSpPr/>
            <p:nvPr/>
          </p:nvSpPr>
          <p:spPr>
            <a:xfrm>
              <a:off x="10337707" y="3374693"/>
              <a:ext cx="1638103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Learn model weights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21" name="Shape 85">
              <a:extLst>
                <a:ext uri="{FF2B5EF4-FFF2-40B4-BE49-F238E27FC236}">
                  <a16:creationId xmlns:a16="http://schemas.microsoft.com/office/drawing/2014/main" id="{90B625EF-8056-CBAD-FCCE-5FE506F54BD0}"/>
                </a:ext>
              </a:extLst>
            </p:cNvPr>
            <p:cNvSpPr/>
            <p:nvPr/>
          </p:nvSpPr>
          <p:spPr>
            <a:xfrm>
              <a:off x="10511599" y="3799170"/>
              <a:ext cx="1341781" cy="521698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9525">
              <a:solidFill>
                <a:srgbClr val="D8D8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86">
              <a:extLst>
                <a:ext uri="{FF2B5EF4-FFF2-40B4-BE49-F238E27FC236}">
                  <a16:creationId xmlns:a16="http://schemas.microsoft.com/office/drawing/2014/main" id="{12F0B238-1497-987F-814E-25EF8932232E}"/>
                </a:ext>
              </a:extLst>
            </p:cNvPr>
            <p:cNvSpPr/>
            <p:nvPr/>
          </p:nvSpPr>
          <p:spPr>
            <a:xfrm>
              <a:off x="10473228" y="3921844"/>
              <a:ext cx="1426192" cy="3026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Deploy policy for</a:t>
              </a:r>
              <a:endParaRPr lang="en-US" sz="1200" dirty="0">
                <a:latin typeface="Century Schoolbook" panose="02040604050505020304" pitchFamily="18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online serving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C3AD34A-65ED-C09F-A7D2-722EE193CDB6}"/>
                </a:ext>
              </a:extLst>
            </p:cNvPr>
            <p:cNvGrpSpPr/>
            <p:nvPr/>
          </p:nvGrpSpPr>
          <p:grpSpPr>
            <a:xfrm>
              <a:off x="9501443" y="2097070"/>
              <a:ext cx="1707515" cy="175887"/>
              <a:chOff x="1546361" y="3294766"/>
              <a:chExt cx="5038182" cy="143016"/>
            </a:xfrm>
          </p:grpSpPr>
          <p:sp>
            <p:nvSpPr>
              <p:cNvPr id="27" name="Shape 88">
                <a:extLst>
                  <a:ext uri="{FF2B5EF4-FFF2-40B4-BE49-F238E27FC236}">
                    <a16:creationId xmlns:a16="http://schemas.microsoft.com/office/drawing/2014/main" id="{80B3BD93-5CBC-5C01-1217-92F5207A782C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5038182" cy="0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Shape 89">
                <a:extLst>
                  <a:ext uri="{FF2B5EF4-FFF2-40B4-BE49-F238E27FC236}">
                    <a16:creationId xmlns:a16="http://schemas.microsoft.com/office/drawing/2014/main" id="{4621E16B-AA69-9A3F-3DED-9FD689B17B2D}"/>
                  </a:ext>
                </a:extLst>
              </p:cNvPr>
              <p:cNvSpPr/>
              <p:nvPr/>
            </p:nvSpPr>
            <p:spPr>
              <a:xfrm>
                <a:off x="1546361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Shape 90">
                <a:extLst>
                  <a:ext uri="{FF2B5EF4-FFF2-40B4-BE49-F238E27FC236}">
                    <a16:creationId xmlns:a16="http://schemas.microsoft.com/office/drawing/2014/main" id="{6A632530-5EA1-37CE-CD94-819DF82AE017}"/>
                  </a:ext>
                </a:extLst>
              </p:cNvPr>
              <p:cNvSpPr/>
              <p:nvPr/>
            </p:nvSpPr>
            <p:spPr>
              <a:xfrm>
                <a:off x="6584543" y="3294766"/>
                <a:ext cx="0" cy="143016"/>
              </a:xfrm>
              <a:prstGeom prst="line">
                <a:avLst/>
              </a:prstGeom>
              <a:noFill/>
              <a:ln w="19050">
                <a:solidFill>
                  <a:srgbClr val="6A4FA0"/>
                </a:solidFill>
                <a:prstDash val="dash"/>
                <a:tailEnd type="triangle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Text 91">
              <a:extLst>
                <a:ext uri="{FF2B5EF4-FFF2-40B4-BE49-F238E27FC236}">
                  <a16:creationId xmlns:a16="http://schemas.microsoft.com/office/drawing/2014/main" id="{BC8C21E6-4309-A9A1-C234-09D83C10123F}"/>
                </a:ext>
              </a:extLst>
            </p:cNvPr>
            <p:cNvSpPr/>
            <p:nvPr/>
          </p:nvSpPr>
          <p:spPr>
            <a:xfrm>
              <a:off x="9219749" y="1893926"/>
              <a:ext cx="2372599" cy="1448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A4FA0"/>
                  </a:solidFill>
                  <a:latin typeface="Century Schoolbook" panose="02040604050505020304" pitchFamily="18" charset="0"/>
                  <a:ea typeface="Arial" pitchFamily="34" charset="-122"/>
                  <a:cs typeface="Arial" pitchFamily="34" charset="-120"/>
                </a:rPr>
                <a:t>Feedback (outcome, context)</a:t>
              </a:r>
              <a:endParaRPr lang="en-US" sz="1200" dirty="0">
                <a:latin typeface="Century Schoolbook" panose="02040604050505020304" pitchFamily="18" charset="0"/>
              </a:endParaRPr>
            </a:p>
          </p:txBody>
        </p:sp>
        <p:sp>
          <p:nvSpPr>
            <p:cNvPr id="25" name="Shape 87">
              <a:extLst>
                <a:ext uri="{FF2B5EF4-FFF2-40B4-BE49-F238E27FC236}">
                  <a16:creationId xmlns:a16="http://schemas.microsoft.com/office/drawing/2014/main" id="{A19EA862-CB9B-C2A6-F34D-C8B6FF48EE44}"/>
                </a:ext>
              </a:extLst>
            </p:cNvPr>
            <p:cNvSpPr/>
            <p:nvPr/>
          </p:nvSpPr>
          <p:spPr>
            <a:xfrm>
              <a:off x="8681030" y="3305926"/>
              <a:ext cx="183218" cy="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87">
              <a:extLst>
                <a:ext uri="{FF2B5EF4-FFF2-40B4-BE49-F238E27FC236}">
                  <a16:creationId xmlns:a16="http://schemas.microsoft.com/office/drawing/2014/main" id="{6A0EDCDD-0C3A-EE06-9EE6-51631E184059}"/>
                </a:ext>
              </a:extLst>
            </p:cNvPr>
            <p:cNvSpPr/>
            <p:nvPr/>
          </p:nvSpPr>
          <p:spPr>
            <a:xfrm flipV="1">
              <a:off x="10285643" y="3297180"/>
              <a:ext cx="196197" cy="5491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431394-B581-183C-081F-1286E6A7B1F4}"/>
              </a:ext>
            </a:extLst>
          </p:cNvPr>
          <p:cNvSpPr/>
          <p:nvPr/>
        </p:nvSpPr>
        <p:spPr>
          <a:xfrm>
            <a:off x="1505013" y="1432560"/>
            <a:ext cx="7247395" cy="3688080"/>
          </a:xfrm>
          <a:prstGeom prst="roundRect">
            <a:avLst/>
          </a:prstGeom>
          <a:noFill/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E8535-62F9-0448-C656-3FE90E13C340}"/>
              </a:ext>
            </a:extLst>
          </p:cNvPr>
          <p:cNvSpPr txBox="1"/>
          <p:nvPr/>
        </p:nvSpPr>
        <p:spPr>
          <a:xfrm>
            <a:off x="2074336" y="117364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entury Schoolbook" panose="02040604050505020304" pitchFamily="18" charset="0"/>
              </a:rPr>
              <a:t>MeritKV online path</a:t>
            </a:r>
          </a:p>
        </p:txBody>
      </p:sp>
    </p:spTree>
    <p:extLst>
      <p:ext uri="{BB962C8B-B14F-4D97-AF65-F5344CB8AC3E}">
        <p14:creationId xmlns:p14="http://schemas.microsoft.com/office/powerpoint/2010/main" val="196041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699</Words>
  <Application>Microsoft Office PowerPoint</Application>
  <PresentationFormat>Widescreen</PresentationFormat>
  <Paragraphs>233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Kushal Khemani</cp:lastModifiedBy>
  <cp:revision>11</cp:revision>
  <dcterms:created xsi:type="dcterms:W3CDTF">2026-07-21T08:52:41Z</dcterms:created>
  <dcterms:modified xsi:type="dcterms:W3CDTF">2026-07-29T12:51:31Z</dcterms:modified>
</cp:coreProperties>
</file>